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Arial Bold" charset="1" panose="020B0704020202020204"/>
      <p:regular r:id="rId36"/>
    </p:embeddedFont>
    <p:embeddedFont>
      <p:font typeface="Libre Baskerville Bold" charset="1" panose="02000000000000000000"/>
      <p:regular r:id="rId37"/>
    </p:embeddedFont>
    <p:embeddedFont>
      <p:font typeface="Lovelo" charset="1" panose="02000000000000000000"/>
      <p:regular r:id="rId38"/>
    </p:embeddedFont>
    <p:embeddedFont>
      <p:font typeface="Arial" charset="1" panose="020B0604020202020204"/>
      <p:regular r:id="rId39"/>
    </p:embeddedFont>
    <p:embeddedFont>
      <p:font typeface="Inter" charset="1" panose="020B0502030000000004"/>
      <p:regular r:id="rId40"/>
    </p:embeddedFont>
    <p:embeddedFont>
      <p:font typeface="Inter Bold" charset="1" panose="020B0802030000000004"/>
      <p:regular r:id="rId41"/>
    </p:embeddedFont>
    <p:embeddedFont>
      <p:font typeface="Libre Baskerville" charset="1" panose="02000000000000000000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5310819" y="0"/>
            <a:ext cx="2977181" cy="2977181"/>
            <a:chOff x="0" y="0"/>
            <a:chExt cx="3969575" cy="396957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984788" cy="1984788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984788"/>
              <a:ext cx="1984788" cy="1984788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984788" y="0"/>
              <a:ext cx="1984788" cy="1984788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0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536399" y="1655882"/>
            <a:ext cx="1321300" cy="132130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E1E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5703926" y="7490954"/>
            <a:ext cx="1488591" cy="148859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BEBE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5400000">
            <a:off x="1857699" y="334582"/>
            <a:ext cx="1321300" cy="132130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AE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5400000">
            <a:off x="16799409" y="8798409"/>
            <a:ext cx="1488591" cy="148859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E1E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5400000">
            <a:off x="2854442" y="8457277"/>
            <a:ext cx="1488591" cy="148859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E1E1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TextBox 37" id="37"/>
          <p:cNvSpPr txBox="true"/>
          <p:nvPr/>
        </p:nvSpPr>
        <p:spPr>
          <a:xfrm rot="0">
            <a:off x="377600" y="9739082"/>
            <a:ext cx="4562061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www.reallygreatsite.com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377600" y="321611"/>
            <a:ext cx="2102569" cy="275311"/>
            <a:chOff x="0" y="0"/>
            <a:chExt cx="2803426" cy="367081"/>
          </a:xfrm>
        </p:grpSpPr>
        <p:sp>
          <p:nvSpPr>
            <p:cNvPr name="TextBox 39" id="39"/>
            <p:cNvSpPr txBox="true"/>
            <p:nvPr/>
          </p:nvSpPr>
          <p:spPr>
            <a:xfrm rot="0">
              <a:off x="0" y="19050"/>
              <a:ext cx="1508522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Arowwai 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1521222" y="89374"/>
              <a:ext cx="1282204" cy="27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929292"/>
                  </a:solidFill>
                  <a:latin typeface="Lovelo"/>
                  <a:ea typeface="Lovelo"/>
                  <a:cs typeface="Lovelo"/>
                  <a:sym typeface="Lovelo"/>
                </a:rPr>
                <a:t>Industries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156614" y="2795201"/>
            <a:ext cx="5265791" cy="4696598"/>
            <a:chOff x="0" y="0"/>
            <a:chExt cx="1386875" cy="12369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86875" cy="1236964"/>
            </a:xfrm>
            <a:custGeom>
              <a:avLst/>
              <a:gdLst/>
              <a:ahLst/>
              <a:cxnLst/>
              <a:rect r="r" b="b" t="t" l="l"/>
              <a:pathLst>
                <a:path h="1236964" w="1386875">
                  <a:moveTo>
                    <a:pt x="44107" y="0"/>
                  </a:moveTo>
                  <a:lnTo>
                    <a:pt x="1342768" y="0"/>
                  </a:lnTo>
                  <a:cubicBezTo>
                    <a:pt x="1367128" y="0"/>
                    <a:pt x="1386875" y="19747"/>
                    <a:pt x="1386875" y="44107"/>
                  </a:cubicBezTo>
                  <a:lnTo>
                    <a:pt x="1386875" y="1192857"/>
                  </a:lnTo>
                  <a:cubicBezTo>
                    <a:pt x="1386875" y="1217217"/>
                    <a:pt x="1367128" y="1236964"/>
                    <a:pt x="1342768" y="1236964"/>
                  </a:cubicBezTo>
                  <a:lnTo>
                    <a:pt x="44107" y="1236964"/>
                  </a:lnTo>
                  <a:cubicBezTo>
                    <a:pt x="19747" y="1236964"/>
                    <a:pt x="0" y="1217217"/>
                    <a:pt x="0" y="1192857"/>
                  </a:cubicBezTo>
                  <a:lnTo>
                    <a:pt x="0" y="44107"/>
                  </a:lnTo>
                  <a:cubicBezTo>
                    <a:pt x="0" y="19747"/>
                    <a:pt x="19747" y="0"/>
                    <a:pt x="4410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1386875" cy="1236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2074309" y="2528514"/>
            <a:ext cx="8184813" cy="253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spc="-89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Chương 10: Ảo hóa Tài nguyên Đám mây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063191" y="5262446"/>
            <a:ext cx="7080809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b="true" sz="2100" spc="2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Nội dung chính:</a:t>
            </a:r>
            <a:r>
              <a:rPr lang="en-US" sz="2100" spc="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Nguyên tắc, triển khai và tối ưu hóa ảo hóa trong môi trường điện toán đám mây.</a:t>
            </a:r>
          </a:p>
          <a:p>
            <a:pPr algn="just">
              <a:lnSpc>
                <a:spcPts val="2940"/>
              </a:lnSpc>
            </a:pP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10475733" y="1829723"/>
            <a:ext cx="6627554" cy="6627554"/>
          </a:xfrm>
          <a:custGeom>
            <a:avLst/>
            <a:gdLst/>
            <a:ahLst/>
            <a:cxnLst/>
            <a:rect r="r" b="b" t="t" l="l"/>
            <a:pathLst>
              <a:path h="6627554" w="6627554">
                <a:moveTo>
                  <a:pt x="0" y="0"/>
                </a:moveTo>
                <a:lnTo>
                  <a:pt x="6627553" y="0"/>
                </a:lnTo>
                <a:lnTo>
                  <a:pt x="6627553" y="6627554"/>
                </a:lnTo>
                <a:lnTo>
                  <a:pt x="0" y="6627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2063191" y="6323531"/>
            <a:ext cx="7080809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b="true" sz="2100" spc="2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Thành viên: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 spc="2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Trần Văn Minh 81012302875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 spc="2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Quách Đắc Đức Mạnh 81012302874</a:t>
            </a:r>
          </a:p>
          <a:p>
            <a:pPr algn="just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5400000">
            <a:off x="377600" y="1210490"/>
            <a:ext cx="928850" cy="92885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AE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82723" lIns="82723" bIns="82723" rIns="82723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377600" y="9739082"/>
            <a:ext cx="4562061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www.reallygreatsite.com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377600" y="321611"/>
            <a:ext cx="2102569" cy="275311"/>
            <a:chOff x="0" y="0"/>
            <a:chExt cx="2803426" cy="367081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19050"/>
              <a:ext cx="1508522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Arowwai 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521222" y="89374"/>
              <a:ext cx="1282204" cy="27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929292"/>
                  </a:solidFill>
                  <a:latin typeface="Lovelo"/>
                  <a:ea typeface="Lovelo"/>
                  <a:cs typeface="Lovelo"/>
                  <a:sym typeface="Lovelo"/>
                </a:rPr>
                <a:t>Industries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3473098" y="5561585"/>
            <a:ext cx="4407718" cy="4407718"/>
          </a:xfrm>
          <a:custGeom>
            <a:avLst/>
            <a:gdLst/>
            <a:ahLst/>
            <a:cxnLst/>
            <a:rect r="r" b="b" t="t" l="l"/>
            <a:pathLst>
              <a:path h="4407718" w="4407718">
                <a:moveTo>
                  <a:pt x="0" y="0"/>
                </a:moveTo>
                <a:lnTo>
                  <a:pt x="4407718" y="0"/>
                </a:lnTo>
                <a:lnTo>
                  <a:pt x="4407718" y="4407718"/>
                </a:lnTo>
                <a:lnTo>
                  <a:pt x="0" y="44077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06450" y="2963951"/>
            <a:ext cx="6398610" cy="5138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1529" indent="-265764" lvl="1">
              <a:lnSpc>
                <a:spcPts val="3446"/>
              </a:lnSpc>
              <a:buFont typeface="Arial"/>
              <a:buChar char="•"/>
            </a:pPr>
            <a:r>
              <a:rPr lang="en-US" b="true" sz="2461" spc="-4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Vấn đề của Trung tâm dữ liệu truyền thống:</a:t>
            </a:r>
          </a:p>
          <a:p>
            <a:pPr algn="just" marL="1063057" indent="-354352" lvl="2">
              <a:lnSpc>
                <a:spcPts val="3446"/>
              </a:lnSpc>
              <a:buFont typeface="Arial"/>
              <a:buChar char="⚬"/>
            </a:pPr>
            <a:r>
              <a:rPr lang="en-US" sz="2461" spc="-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Mỗi máy chủ = một hệ điều hành.</a:t>
            </a:r>
          </a:p>
          <a:p>
            <a:pPr algn="just" marL="1063057" indent="-354352" lvl="2">
              <a:lnSpc>
                <a:spcPts val="3446"/>
              </a:lnSpc>
              <a:buFont typeface="Arial"/>
              <a:buChar char="⚬"/>
            </a:pPr>
            <a:r>
              <a:rPr lang="en-US" sz="2461" spc="-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Quản lý phức tạp, lãng phí tài nguyên.</a:t>
            </a:r>
          </a:p>
          <a:p>
            <a:pPr algn="just" marL="1063057" indent="-354352" lvl="2">
              <a:lnSpc>
                <a:spcPts val="3446"/>
              </a:lnSpc>
              <a:buFont typeface="Arial"/>
              <a:buChar char="⚬"/>
            </a:pPr>
            <a:r>
              <a:rPr lang="en-US" sz="2461" spc="-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Khó cân bằng tải, thiếu linh hoạt.</a:t>
            </a:r>
          </a:p>
          <a:p>
            <a:pPr algn="just" marL="531529" indent="-265764" lvl="1">
              <a:lnSpc>
                <a:spcPts val="3446"/>
              </a:lnSpc>
              <a:buFont typeface="Arial"/>
              <a:buChar char="•"/>
            </a:pPr>
            <a:r>
              <a:rPr lang="en-US" b="true" sz="2461" spc="-4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Giải pháp: Ảo hóa Tài nguyên:</a:t>
            </a:r>
          </a:p>
          <a:p>
            <a:pPr algn="just" marL="1063057" indent="-354352" lvl="2">
              <a:lnSpc>
                <a:spcPts val="3446"/>
              </a:lnSpc>
              <a:buFont typeface="Arial"/>
              <a:buChar char="⚬"/>
            </a:pPr>
            <a:r>
              <a:rPr lang="en-US" sz="2461" spc="-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Tạo phiên bản ảo của tài nguyên vật lý.</a:t>
            </a:r>
          </a:p>
          <a:p>
            <a:pPr algn="just" marL="1063057" indent="-354352" lvl="2">
              <a:lnSpc>
                <a:spcPts val="3446"/>
              </a:lnSpc>
              <a:buFont typeface="Arial"/>
              <a:buChar char="⚬"/>
            </a:pPr>
            <a:r>
              <a:rPr lang="en-US" sz="2461" spc="-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Chạy nhiều Máy ảo (VM) trên một máy chủ.</a:t>
            </a:r>
          </a:p>
          <a:p>
            <a:pPr algn="just" marL="1063057" indent="-354352" lvl="2">
              <a:lnSpc>
                <a:spcPts val="3446"/>
              </a:lnSpc>
              <a:buFont typeface="Arial"/>
              <a:buChar char="⚬"/>
            </a:pPr>
            <a:r>
              <a:rPr lang="en-US" sz="2461" spc="-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Đơn giản hóa quản lý, tăng hiệu quả sử dụng.</a:t>
            </a:r>
          </a:p>
          <a:p>
            <a:pPr algn="just">
              <a:lnSpc>
                <a:spcPts val="3446"/>
              </a:lnSpc>
            </a:pPr>
          </a:p>
        </p:txBody>
      </p:sp>
      <p:grpSp>
        <p:nvGrpSpPr>
          <p:cNvPr name="Group 31" id="31"/>
          <p:cNvGrpSpPr/>
          <p:nvPr/>
        </p:nvGrpSpPr>
        <p:grpSpPr>
          <a:xfrm rot="5400000">
            <a:off x="5404085" y="8037505"/>
            <a:ext cx="928850" cy="1857699"/>
            <a:chOff x="0" y="0"/>
            <a:chExt cx="1238466" cy="2476932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8" id="38"/>
          <p:cNvGrpSpPr/>
          <p:nvPr/>
        </p:nvGrpSpPr>
        <p:grpSpPr>
          <a:xfrm rot="5400000">
            <a:off x="5819437" y="464425"/>
            <a:ext cx="1857699" cy="928850"/>
            <a:chOff x="0" y="0"/>
            <a:chExt cx="2476932" cy="1238466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TextBox 45" id="45"/>
          <p:cNvSpPr txBox="true"/>
          <p:nvPr/>
        </p:nvSpPr>
        <p:spPr>
          <a:xfrm rot="0">
            <a:off x="1428885" y="2044090"/>
            <a:ext cx="4539202" cy="124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b="true" sz="3500" spc="-7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Tại sao cần Ảo hóa?</a:t>
            </a:r>
          </a:p>
          <a:p>
            <a:pPr algn="just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8885" y="2660904"/>
            <a:ext cx="11365384" cy="4806885"/>
            <a:chOff x="0" y="0"/>
            <a:chExt cx="2993352" cy="12660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93352" cy="1266011"/>
            </a:xfrm>
            <a:custGeom>
              <a:avLst/>
              <a:gdLst/>
              <a:ahLst/>
              <a:cxnLst/>
              <a:rect r="r" b="b" t="t" l="l"/>
              <a:pathLst>
                <a:path h="1266011" w="2993352">
                  <a:moveTo>
                    <a:pt x="20436" y="0"/>
                  </a:moveTo>
                  <a:lnTo>
                    <a:pt x="2972916" y="0"/>
                  </a:lnTo>
                  <a:cubicBezTo>
                    <a:pt x="2978336" y="0"/>
                    <a:pt x="2983534" y="2153"/>
                    <a:pt x="2987366" y="5985"/>
                  </a:cubicBezTo>
                  <a:cubicBezTo>
                    <a:pt x="2991199" y="9818"/>
                    <a:pt x="2993352" y="15016"/>
                    <a:pt x="2993352" y="20436"/>
                  </a:cubicBezTo>
                  <a:lnTo>
                    <a:pt x="2993352" y="1245575"/>
                  </a:lnTo>
                  <a:cubicBezTo>
                    <a:pt x="2993352" y="1250995"/>
                    <a:pt x="2991199" y="1256193"/>
                    <a:pt x="2987366" y="1260025"/>
                  </a:cubicBezTo>
                  <a:cubicBezTo>
                    <a:pt x="2983534" y="1263858"/>
                    <a:pt x="2978336" y="1266011"/>
                    <a:pt x="2972916" y="1266011"/>
                  </a:cubicBezTo>
                  <a:lnTo>
                    <a:pt x="20436" y="1266011"/>
                  </a:lnTo>
                  <a:cubicBezTo>
                    <a:pt x="9149" y="1266011"/>
                    <a:pt x="0" y="1256862"/>
                    <a:pt x="0" y="1245575"/>
                  </a:cubicBezTo>
                  <a:lnTo>
                    <a:pt x="0" y="20436"/>
                  </a:lnTo>
                  <a:cubicBezTo>
                    <a:pt x="0" y="15016"/>
                    <a:pt x="2153" y="9818"/>
                    <a:pt x="5985" y="5985"/>
                  </a:cubicBezTo>
                  <a:cubicBezTo>
                    <a:pt x="9818" y="2153"/>
                    <a:pt x="15016" y="0"/>
                    <a:pt x="2043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ysDot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993352" cy="1266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1464307" y="2660904"/>
            <a:ext cx="1196036" cy="1196036"/>
            <a:chOff x="0" y="0"/>
            <a:chExt cx="1594714" cy="1594714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797357" cy="797357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797357"/>
              <a:ext cx="797357" cy="797357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797357" y="0"/>
              <a:ext cx="797357" cy="797357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5400000">
            <a:off x="1133475" y="1333631"/>
            <a:ext cx="928850" cy="928850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AEB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82723" lIns="82723" bIns="82723" rIns="82723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5400000">
            <a:off x="15164469" y="8429301"/>
            <a:ext cx="928850" cy="928850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AEB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82723" lIns="82723" bIns="82723" rIns="82723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13107069" y="266090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377600" y="9739082"/>
            <a:ext cx="4562061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www.reallygreatsite.com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377600" y="321611"/>
            <a:ext cx="2102569" cy="275311"/>
            <a:chOff x="0" y="0"/>
            <a:chExt cx="2803426" cy="367081"/>
          </a:xfrm>
        </p:grpSpPr>
        <p:sp>
          <p:nvSpPr>
            <p:cNvPr name="TextBox 44" id="44"/>
            <p:cNvSpPr txBox="true"/>
            <p:nvPr/>
          </p:nvSpPr>
          <p:spPr>
            <a:xfrm rot="0">
              <a:off x="0" y="19050"/>
              <a:ext cx="1508522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Arowwai 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1521222" y="89374"/>
              <a:ext cx="1282204" cy="27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929292"/>
                  </a:solidFill>
                  <a:latin typeface="Lovelo"/>
                  <a:ea typeface="Lovelo"/>
                  <a:cs typeface="Lovelo"/>
                  <a:sym typeface="Lovelo"/>
                </a:rPr>
                <a:t>Industries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428885" y="1047750"/>
            <a:ext cx="4805673" cy="213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spc="-5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Cách ly Hiệu năng &amp; Bảo mật</a:t>
            </a:r>
          </a:p>
          <a:p>
            <a:pPr algn="l" marL="0" indent="0" lvl="0">
              <a:lnSpc>
                <a:spcPts val="5500"/>
              </a:lnSpc>
              <a:spcBef>
                <a:spcPct val="0"/>
              </a:spcBef>
            </a:pPr>
          </a:p>
        </p:txBody>
      </p:sp>
      <p:sp>
        <p:nvSpPr>
          <p:cNvPr name="TextBox 47" id="47"/>
          <p:cNvSpPr txBox="true"/>
          <p:nvPr/>
        </p:nvSpPr>
        <p:spPr>
          <a:xfrm rot="0">
            <a:off x="2062325" y="3201772"/>
            <a:ext cx="5899885" cy="3499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4978" indent="-267489" lvl="1">
              <a:lnSpc>
                <a:spcPts val="3469"/>
              </a:lnSpc>
              <a:buFont typeface="Arial"/>
              <a:buChar char="•"/>
            </a:pPr>
            <a:r>
              <a:rPr lang="en-US" b="true" sz="2477" spc="-4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Cách ly Hiệu năng: </a:t>
            </a:r>
            <a:r>
              <a:rPr lang="en-US" sz="2477" spc="-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Đảm bảo hiệu năng của một VM không bị ảnh hưởng bởi các VM khác.</a:t>
            </a:r>
          </a:p>
          <a:p>
            <a:pPr algn="just" marL="534978" indent="-267489" lvl="1">
              <a:lnSpc>
                <a:spcPts val="3469"/>
              </a:lnSpc>
              <a:buFont typeface="Arial"/>
              <a:buChar char="•"/>
            </a:pPr>
            <a:r>
              <a:rPr lang="en-US" b="true" sz="2477" spc="-4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Cách ly Bảo mật: </a:t>
            </a:r>
            <a:r>
              <a:rPr lang="en-US" sz="2477" spc="-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Hypervisor có "bề mặt tấn công" nhỏ hơn nhiều so với OS, tạo ra ranh giới bảo mật mạnh mẽ giữa các VM.</a:t>
            </a:r>
          </a:p>
          <a:p>
            <a:pPr algn="just">
              <a:lnSpc>
                <a:spcPts val="346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6374614" y="1464869"/>
            <a:ext cx="1196036" cy="1196036"/>
            <a:chOff x="0" y="0"/>
            <a:chExt cx="1594714" cy="1594714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797357" cy="797357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797357"/>
              <a:ext cx="797357" cy="797357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797357" y="0"/>
              <a:ext cx="797357" cy="797357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5400000">
            <a:off x="1133475" y="1333631"/>
            <a:ext cx="928850" cy="928850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AEB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82723" lIns="82723" bIns="82723" rIns="82723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5400000">
            <a:off x="15164469" y="8429301"/>
            <a:ext cx="928850" cy="928850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AEB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82723" lIns="82723" bIns="82723" rIns="82723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8150958" y="1333631"/>
            <a:ext cx="7477936" cy="7924669"/>
          </a:xfrm>
          <a:custGeom>
            <a:avLst/>
            <a:gdLst/>
            <a:ahLst/>
            <a:cxnLst/>
            <a:rect r="r" b="b" t="t" l="l"/>
            <a:pathLst>
              <a:path h="7924669" w="7477936">
                <a:moveTo>
                  <a:pt x="0" y="0"/>
                </a:moveTo>
                <a:lnTo>
                  <a:pt x="7477935" y="0"/>
                </a:lnTo>
                <a:lnTo>
                  <a:pt x="7477935" y="7924669"/>
                </a:lnTo>
                <a:lnTo>
                  <a:pt x="0" y="79246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377600" y="9739082"/>
            <a:ext cx="4562061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www.reallygreatsite.com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377600" y="321611"/>
            <a:ext cx="2102569" cy="275311"/>
            <a:chOff x="0" y="0"/>
            <a:chExt cx="2803426" cy="367081"/>
          </a:xfrm>
        </p:grpSpPr>
        <p:sp>
          <p:nvSpPr>
            <p:cNvPr name="TextBox 41" id="41"/>
            <p:cNvSpPr txBox="true"/>
            <p:nvPr/>
          </p:nvSpPr>
          <p:spPr>
            <a:xfrm rot="0">
              <a:off x="0" y="19050"/>
              <a:ext cx="1508522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Arowwai 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1521222" y="89374"/>
              <a:ext cx="1282204" cy="27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929292"/>
                  </a:solidFill>
                  <a:latin typeface="Lovelo"/>
                  <a:ea typeface="Lovelo"/>
                  <a:cs typeface="Lovelo"/>
                  <a:sym typeface="Lovelo"/>
                </a:rPr>
                <a:t>Industries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028700" y="1381256"/>
            <a:ext cx="5345914" cy="279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spc="-5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Máy ảo (Virtual Machine - VM) là gì?</a:t>
            </a:r>
          </a:p>
          <a:p>
            <a:pPr algn="l" marL="0" indent="0" lvl="0">
              <a:lnSpc>
                <a:spcPts val="5500"/>
              </a:lnSpc>
              <a:spcBef>
                <a:spcPct val="0"/>
              </a:spcBef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928850" y="3865820"/>
            <a:ext cx="5285361" cy="3489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9254" indent="-239627" lvl="1">
              <a:lnSpc>
                <a:spcPts val="3107"/>
              </a:lnSpc>
              <a:buFont typeface="Arial"/>
              <a:buChar char="•"/>
            </a:pPr>
            <a:r>
              <a:rPr lang="en-US" b="true" sz="2219" spc="-4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Định nghĩa: </a:t>
            </a:r>
            <a:r>
              <a:rPr lang="en-US" sz="2219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Một môi trường bị cô lập, mô phỏng một hệ thống máy tính hoàn chỉnh.</a:t>
            </a:r>
          </a:p>
          <a:p>
            <a:pPr algn="l" marL="479254" indent="-239627" lvl="1">
              <a:lnSpc>
                <a:spcPts val="3107"/>
              </a:lnSpc>
              <a:buFont typeface="Arial"/>
              <a:buChar char="•"/>
            </a:pPr>
            <a:r>
              <a:rPr lang="en-US" b="true" sz="2219" spc="-4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Phân loại (Hình 10.1A):</a:t>
            </a:r>
          </a:p>
          <a:p>
            <a:pPr algn="l" marL="958509" indent="-319503" lvl="2">
              <a:lnSpc>
                <a:spcPts val="3107"/>
              </a:lnSpc>
              <a:buFont typeface="Arial"/>
              <a:buChar char="⚬"/>
            </a:pPr>
            <a:r>
              <a:rPr lang="en-US" sz="2219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 VM (cho một tiến trình, VD: JVM).</a:t>
            </a:r>
          </a:p>
          <a:p>
            <a:pPr algn="l" marL="958509" indent="-319503" lvl="2">
              <a:lnSpc>
                <a:spcPts val="3107"/>
              </a:lnSpc>
              <a:buFont typeface="Arial"/>
              <a:buChar char="⚬"/>
            </a:pPr>
            <a:r>
              <a:rPr lang="en-US" sz="2219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 VM (cho cả một hệ điều hành - trọng tâm của Cloud).</a:t>
            </a:r>
          </a:p>
          <a:p>
            <a:pPr algn="l">
              <a:lnSpc>
                <a:spcPts val="3107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850" y="3845414"/>
            <a:ext cx="7471147" cy="5101566"/>
            <a:chOff x="0" y="0"/>
            <a:chExt cx="1967709" cy="13436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7710" cy="1343622"/>
            </a:xfrm>
            <a:custGeom>
              <a:avLst/>
              <a:gdLst/>
              <a:ahLst/>
              <a:cxnLst/>
              <a:rect r="r" b="b" t="t" l="l"/>
              <a:pathLst>
                <a:path h="1343622" w="1967710">
                  <a:moveTo>
                    <a:pt x="31087" y="0"/>
                  </a:moveTo>
                  <a:lnTo>
                    <a:pt x="1936622" y="0"/>
                  </a:lnTo>
                  <a:cubicBezTo>
                    <a:pt x="1944867" y="0"/>
                    <a:pt x="1952774" y="3275"/>
                    <a:pt x="1958604" y="9105"/>
                  </a:cubicBezTo>
                  <a:cubicBezTo>
                    <a:pt x="1964434" y="14935"/>
                    <a:pt x="1967710" y="22842"/>
                    <a:pt x="1967710" y="31087"/>
                  </a:cubicBezTo>
                  <a:lnTo>
                    <a:pt x="1967710" y="1312535"/>
                  </a:lnTo>
                  <a:cubicBezTo>
                    <a:pt x="1967710" y="1320780"/>
                    <a:pt x="1964434" y="1328687"/>
                    <a:pt x="1958604" y="1334517"/>
                  </a:cubicBezTo>
                  <a:cubicBezTo>
                    <a:pt x="1952774" y="1340347"/>
                    <a:pt x="1944867" y="1343622"/>
                    <a:pt x="1936622" y="1343622"/>
                  </a:cubicBezTo>
                  <a:lnTo>
                    <a:pt x="31087" y="1343622"/>
                  </a:lnTo>
                  <a:cubicBezTo>
                    <a:pt x="13918" y="1343622"/>
                    <a:pt x="0" y="1329704"/>
                    <a:pt x="0" y="1312535"/>
                  </a:cubicBezTo>
                  <a:lnTo>
                    <a:pt x="0" y="31087"/>
                  </a:lnTo>
                  <a:cubicBezTo>
                    <a:pt x="0" y="22842"/>
                    <a:pt x="3275" y="14935"/>
                    <a:pt x="9105" y="9105"/>
                  </a:cubicBezTo>
                  <a:cubicBezTo>
                    <a:pt x="14935" y="3275"/>
                    <a:pt x="22842" y="0"/>
                    <a:pt x="3108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ysDot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967709" cy="1343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28850" y="1607792"/>
            <a:ext cx="5345914" cy="282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spc="-5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Các loại Hypervisor (Trình giám sát máy ảo)</a:t>
            </a:r>
          </a:p>
          <a:p>
            <a:pPr algn="l" marL="0" indent="0" lvl="0">
              <a:lnSpc>
                <a:spcPts val="550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526867" y="4467787"/>
            <a:ext cx="6021041" cy="4479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5963" indent="-272981" lvl="1">
              <a:lnSpc>
                <a:spcPts val="3540"/>
              </a:lnSpc>
              <a:buFont typeface="Arial"/>
              <a:buChar char="•"/>
            </a:pPr>
            <a:r>
              <a:rPr lang="en-US" b="true" sz="2528" spc="-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Hypervisor: </a:t>
            </a:r>
            <a:r>
              <a:rPr lang="en-US" sz="2528" spc="-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Lớp phần mềm tạo và quản lý máy ảo.</a:t>
            </a:r>
          </a:p>
          <a:p>
            <a:pPr algn="l" marL="545963" indent="-272981" lvl="1">
              <a:lnSpc>
                <a:spcPts val="3540"/>
              </a:lnSpc>
              <a:buFont typeface="Arial"/>
              <a:buChar char="•"/>
            </a:pPr>
            <a:r>
              <a:rPr lang="en-US" b="true" sz="2528" spc="-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Loại 1: Bare-metal (Hình B)</a:t>
            </a:r>
          </a:p>
          <a:p>
            <a:pPr algn="l" marL="1091925" indent="-363975" lvl="2">
              <a:lnSpc>
                <a:spcPts val="3540"/>
              </a:lnSpc>
              <a:buFont typeface="Arial"/>
              <a:buChar char="⚬"/>
            </a:pPr>
            <a:r>
              <a:rPr lang="en-US" sz="2528" spc="-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Chạy trực tiếp trên phần cứng.</a:t>
            </a:r>
          </a:p>
          <a:p>
            <a:pPr algn="l" marL="1091925" indent="-363975" lvl="2">
              <a:lnSpc>
                <a:spcPts val="3540"/>
              </a:lnSpc>
              <a:buFont typeface="Arial"/>
              <a:buChar char="⚬"/>
            </a:pPr>
            <a:r>
              <a:rPr lang="en-US" sz="2528" spc="-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Hiệu năng cao.</a:t>
            </a:r>
          </a:p>
          <a:p>
            <a:pPr algn="l" marL="545963" indent="-272981" lvl="1">
              <a:lnSpc>
                <a:spcPts val="3540"/>
              </a:lnSpc>
              <a:buFont typeface="Arial"/>
              <a:buChar char="•"/>
            </a:pPr>
            <a:r>
              <a:rPr lang="en-US" b="true" sz="2528" spc="-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Loại 2: Hosted (Hình D)</a:t>
            </a:r>
          </a:p>
          <a:p>
            <a:pPr algn="l" marL="1091925" indent="-363975" lvl="2">
              <a:lnSpc>
                <a:spcPts val="3540"/>
              </a:lnSpc>
              <a:buFont typeface="Arial"/>
              <a:buChar char="⚬"/>
            </a:pPr>
            <a:r>
              <a:rPr lang="en-US" sz="2528" spc="-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Chạy như một ứng dụng trên OS chủ.</a:t>
            </a:r>
          </a:p>
          <a:p>
            <a:pPr algn="l" marL="1091925" indent="-363975" lvl="2">
              <a:lnSpc>
                <a:spcPts val="3540"/>
              </a:lnSpc>
              <a:buFont typeface="Arial"/>
              <a:buChar char="⚬"/>
            </a:pPr>
            <a:r>
              <a:rPr lang="en-US" sz="2528" spc="-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Dễ cài đặt.</a:t>
            </a:r>
          </a:p>
          <a:p>
            <a:pPr algn="l">
              <a:lnSpc>
                <a:spcPts val="354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0">
            <a:off x="928850" y="3835524"/>
            <a:ext cx="1196036" cy="1196036"/>
            <a:chOff x="0" y="0"/>
            <a:chExt cx="1594714" cy="1594714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797357" cy="797357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797357"/>
              <a:ext cx="797357" cy="797357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797357" y="0"/>
              <a:ext cx="797357" cy="797357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7" id="37"/>
          <p:cNvGrpSpPr/>
          <p:nvPr/>
        </p:nvGrpSpPr>
        <p:grpSpPr>
          <a:xfrm rot="5400000">
            <a:off x="15164469" y="8329450"/>
            <a:ext cx="928850" cy="928850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AEB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82723" lIns="82723" bIns="82723" rIns="82723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8534580" y="2550783"/>
            <a:ext cx="4370073" cy="6396197"/>
          </a:xfrm>
          <a:custGeom>
            <a:avLst/>
            <a:gdLst/>
            <a:ahLst/>
            <a:cxnLst/>
            <a:rect r="r" b="b" t="t" l="l"/>
            <a:pathLst>
              <a:path h="6396197" w="4370073">
                <a:moveTo>
                  <a:pt x="0" y="0"/>
                </a:moveTo>
                <a:lnTo>
                  <a:pt x="4370073" y="0"/>
                </a:lnTo>
                <a:lnTo>
                  <a:pt x="4370073" y="6396198"/>
                </a:lnTo>
                <a:lnTo>
                  <a:pt x="0" y="6396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3088387" y="2550783"/>
            <a:ext cx="4505933" cy="5319279"/>
          </a:xfrm>
          <a:custGeom>
            <a:avLst/>
            <a:gdLst/>
            <a:ahLst/>
            <a:cxnLst/>
            <a:rect r="r" b="b" t="t" l="l"/>
            <a:pathLst>
              <a:path h="5319279" w="4505933">
                <a:moveTo>
                  <a:pt x="0" y="0"/>
                </a:moveTo>
                <a:lnTo>
                  <a:pt x="4505933" y="0"/>
                </a:lnTo>
                <a:lnTo>
                  <a:pt x="4505933" y="5319279"/>
                </a:lnTo>
                <a:lnTo>
                  <a:pt x="0" y="5319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377600" y="9739082"/>
            <a:ext cx="4562061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www.reallygreatsite.com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377600" y="321611"/>
            <a:ext cx="2102569" cy="275311"/>
            <a:chOff x="0" y="0"/>
            <a:chExt cx="2803426" cy="367081"/>
          </a:xfrm>
        </p:grpSpPr>
        <p:sp>
          <p:nvSpPr>
            <p:cNvPr name="TextBox 44" id="44"/>
            <p:cNvSpPr txBox="true"/>
            <p:nvPr/>
          </p:nvSpPr>
          <p:spPr>
            <a:xfrm rot="0">
              <a:off x="0" y="19050"/>
              <a:ext cx="1508522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Arowwai 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1521222" y="89374"/>
              <a:ext cx="1282204" cy="27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929292"/>
                  </a:solidFill>
                  <a:latin typeface="Lovelo"/>
                  <a:ea typeface="Lovelo"/>
                  <a:cs typeface="Lovelo"/>
                  <a:sym typeface="Lovelo"/>
                </a:rPr>
                <a:t>Industries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27242" y="1211180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0" y="991206"/>
            <a:ext cx="1857699" cy="1857699"/>
            <a:chOff x="0" y="0"/>
            <a:chExt cx="2476932" cy="2476932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0">
            <a:off x="14811052" y="7573080"/>
            <a:ext cx="1857699" cy="1857699"/>
            <a:chOff x="0" y="0"/>
            <a:chExt cx="2476932" cy="2476932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Freeform 42" id="42"/>
          <p:cNvSpPr/>
          <p:nvPr/>
        </p:nvSpPr>
        <p:spPr>
          <a:xfrm flipH="false" flipV="false" rot="0">
            <a:off x="8971018" y="2198220"/>
            <a:ext cx="8516739" cy="5433092"/>
          </a:xfrm>
          <a:custGeom>
            <a:avLst/>
            <a:gdLst/>
            <a:ahLst/>
            <a:cxnLst/>
            <a:rect r="r" b="b" t="t" l="l"/>
            <a:pathLst>
              <a:path h="5433092" w="8516739">
                <a:moveTo>
                  <a:pt x="0" y="0"/>
                </a:moveTo>
                <a:lnTo>
                  <a:pt x="8516739" y="0"/>
                </a:lnTo>
                <a:lnTo>
                  <a:pt x="8516739" y="5433092"/>
                </a:lnTo>
                <a:lnTo>
                  <a:pt x="0" y="54330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866582" y="2245845"/>
            <a:ext cx="7094912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  <a:spcBef>
                <a:spcPct val="0"/>
              </a:spcBef>
            </a:pPr>
            <a:r>
              <a:rPr lang="en-US" b="true" sz="5000" spc="-5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Hai phương pháp ảo hóa CPU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857699" y="3976220"/>
            <a:ext cx="5825565" cy="879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 spc="-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Ảo hóa Toàn phần (Full Virtualization)</a:t>
            </a:r>
          </a:p>
          <a:p>
            <a:pPr algn="l" marL="539754" indent="-269877" lvl="1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 spc="-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Cận ảo hóa (Paravirtualization)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377600" y="321611"/>
            <a:ext cx="2102569" cy="275311"/>
            <a:chOff x="0" y="0"/>
            <a:chExt cx="2803426" cy="367081"/>
          </a:xfrm>
        </p:grpSpPr>
        <p:sp>
          <p:nvSpPr>
            <p:cNvPr name="TextBox 46" id="46"/>
            <p:cNvSpPr txBox="true"/>
            <p:nvPr/>
          </p:nvSpPr>
          <p:spPr>
            <a:xfrm rot="0">
              <a:off x="0" y="19050"/>
              <a:ext cx="1508522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Arowwai 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1521222" y="89374"/>
              <a:ext cx="1282204" cy="27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929292"/>
                  </a:solidFill>
                  <a:latin typeface="Lovelo"/>
                  <a:ea typeface="Lovelo"/>
                  <a:cs typeface="Lovelo"/>
                  <a:sym typeface="Lovelo"/>
                </a:rPr>
                <a:t>Industries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377600" y="9739082"/>
            <a:ext cx="4562061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www.reallygreatsite.com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27242" y="1211180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0" y="991206"/>
            <a:ext cx="1857699" cy="1857699"/>
            <a:chOff x="0" y="0"/>
            <a:chExt cx="2476932" cy="2476932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0">
            <a:off x="14811052" y="7573080"/>
            <a:ext cx="1857699" cy="1857699"/>
            <a:chOff x="0" y="0"/>
            <a:chExt cx="2476932" cy="2476932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Freeform 42" id="42"/>
          <p:cNvSpPr/>
          <p:nvPr/>
        </p:nvSpPr>
        <p:spPr>
          <a:xfrm flipH="false" flipV="false" rot="0">
            <a:off x="10023326" y="2140029"/>
            <a:ext cx="5986240" cy="6819276"/>
          </a:xfrm>
          <a:custGeom>
            <a:avLst/>
            <a:gdLst/>
            <a:ahLst/>
            <a:cxnLst/>
            <a:rect r="r" b="b" t="t" l="l"/>
            <a:pathLst>
              <a:path h="6819276" w="5986240">
                <a:moveTo>
                  <a:pt x="0" y="0"/>
                </a:moveTo>
                <a:lnTo>
                  <a:pt x="5986240" y="0"/>
                </a:lnTo>
                <a:lnTo>
                  <a:pt x="5986240" y="6819277"/>
                </a:lnTo>
                <a:lnTo>
                  <a:pt x="0" y="68192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2658630" y="2867955"/>
            <a:ext cx="4866418" cy="111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90"/>
              </a:lnSpc>
              <a:spcBef>
                <a:spcPct val="0"/>
              </a:spcBef>
            </a:pPr>
            <a:r>
              <a:rPr lang="en-US" b="true" sz="3900" spc="-3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Ảo hóa Toàn phần (Full Virtualization):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658630" y="4232275"/>
            <a:ext cx="6320786" cy="175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 spc="-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Mô</a:t>
            </a:r>
            <a:r>
              <a:rPr lang="en-US" sz="2500" spc="-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phỏng </a:t>
            </a:r>
            <a:r>
              <a:rPr lang="en-US" b="true" sz="2500" spc="-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CHÍNH XÁC</a:t>
            </a:r>
            <a:r>
              <a:rPr lang="en-US" sz="2500" spc="-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phần cứng.</a:t>
            </a:r>
          </a:p>
          <a:p>
            <a:pPr algn="just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 spc="-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Guest OS </a:t>
            </a:r>
            <a:r>
              <a:rPr lang="en-US" b="true" sz="2500" spc="-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KHÔNG CẦN SỬA ĐỔI</a:t>
            </a:r>
            <a:r>
              <a:rPr lang="en-US" sz="2500" spc="-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marL="539754" indent="-269877" lvl="1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 spc="-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Hypervisor "bẫy" và giả lập các lệnh đặc quyền.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377600" y="321611"/>
            <a:ext cx="2102569" cy="275311"/>
            <a:chOff x="0" y="0"/>
            <a:chExt cx="2803426" cy="367081"/>
          </a:xfrm>
        </p:grpSpPr>
        <p:sp>
          <p:nvSpPr>
            <p:cNvPr name="TextBox 46" id="46"/>
            <p:cNvSpPr txBox="true"/>
            <p:nvPr/>
          </p:nvSpPr>
          <p:spPr>
            <a:xfrm rot="0">
              <a:off x="0" y="19050"/>
              <a:ext cx="1508522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Arowwai 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1521222" y="89374"/>
              <a:ext cx="1282204" cy="27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929292"/>
                  </a:solidFill>
                  <a:latin typeface="Lovelo"/>
                  <a:ea typeface="Lovelo"/>
                  <a:cs typeface="Lovelo"/>
                  <a:sym typeface="Lovelo"/>
                </a:rPr>
                <a:t>Industries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377600" y="9739082"/>
            <a:ext cx="4562061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www.reallygreatsite.com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27242" y="1211180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0" y="991206"/>
            <a:ext cx="1857699" cy="1857699"/>
            <a:chOff x="0" y="0"/>
            <a:chExt cx="2476932" cy="2476932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0">
            <a:off x="14811052" y="7573080"/>
            <a:ext cx="1857699" cy="1857699"/>
            <a:chOff x="0" y="0"/>
            <a:chExt cx="2476932" cy="2476932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Freeform 42" id="42"/>
          <p:cNvSpPr/>
          <p:nvPr/>
        </p:nvSpPr>
        <p:spPr>
          <a:xfrm flipH="false" flipV="false" rot="0">
            <a:off x="10027242" y="2140029"/>
            <a:ext cx="5209130" cy="6923105"/>
          </a:xfrm>
          <a:custGeom>
            <a:avLst/>
            <a:gdLst/>
            <a:ahLst/>
            <a:cxnLst/>
            <a:rect r="r" b="b" t="t" l="l"/>
            <a:pathLst>
              <a:path h="6923105" w="5209130">
                <a:moveTo>
                  <a:pt x="0" y="0"/>
                </a:moveTo>
                <a:lnTo>
                  <a:pt x="5209130" y="0"/>
                </a:lnTo>
                <a:lnTo>
                  <a:pt x="5209130" y="6923106"/>
                </a:lnTo>
                <a:lnTo>
                  <a:pt x="0" y="69231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023" r="0" b="-2023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2658630" y="2867955"/>
            <a:ext cx="4866418" cy="111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90"/>
              </a:lnSpc>
              <a:spcBef>
                <a:spcPct val="0"/>
              </a:spcBef>
            </a:pPr>
            <a:r>
              <a:rPr lang="en-US" b="true" sz="3900" spc="-3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Cận ảo hóa (Paravirtualization):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658630" y="4232275"/>
            <a:ext cx="6485370" cy="2193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 spc="-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Cung</a:t>
            </a:r>
            <a:r>
              <a:rPr lang="en-US" sz="2500" spc="-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cấp giao diện phần cứng </a:t>
            </a:r>
            <a:r>
              <a:rPr lang="en-US" b="true" sz="2500" spc="-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ĐÃ ĐƯỢC SỬA ĐỔI</a:t>
            </a:r>
            <a:r>
              <a:rPr lang="en-US" sz="2500" spc="-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 spc="-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Guest OS </a:t>
            </a:r>
            <a:r>
              <a:rPr lang="en-US" b="true" sz="2500" spc="-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BẮT BUỘC PHẢI SỬA ĐỔI</a:t>
            </a:r>
            <a:r>
              <a:rPr lang="en-US" sz="2500" spc="-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để giao tiếp qua </a:t>
            </a:r>
            <a:r>
              <a:rPr lang="en-US" b="true" sz="2500" spc="-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"hypercalls"</a:t>
            </a:r>
            <a:r>
              <a:rPr lang="en-US" sz="2500" spc="-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marL="539754" indent="-269877" lvl="1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 spc="-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Hiệu năng rất cao.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377600" y="321611"/>
            <a:ext cx="2102569" cy="275311"/>
            <a:chOff x="0" y="0"/>
            <a:chExt cx="2803426" cy="367081"/>
          </a:xfrm>
        </p:grpSpPr>
        <p:sp>
          <p:nvSpPr>
            <p:cNvPr name="TextBox 46" id="46"/>
            <p:cNvSpPr txBox="true"/>
            <p:nvPr/>
          </p:nvSpPr>
          <p:spPr>
            <a:xfrm rot="0">
              <a:off x="0" y="19050"/>
              <a:ext cx="1508522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Arowwai 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1521222" y="89374"/>
              <a:ext cx="1282204" cy="27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929292"/>
                  </a:solidFill>
                  <a:latin typeface="Lovelo"/>
                  <a:ea typeface="Lovelo"/>
                  <a:cs typeface="Lovelo"/>
                  <a:sym typeface="Lovelo"/>
                </a:rPr>
                <a:t>Industries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377600" y="9739082"/>
            <a:ext cx="4562061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www.reallygreatsite.com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8374163" y="-23657"/>
            <a:ext cx="2684561" cy="2684561"/>
            <a:chOff x="0" y="0"/>
            <a:chExt cx="3579415" cy="357941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-10800000">
            <a:off x="15596457" y="7602439"/>
            <a:ext cx="2684561" cy="2684561"/>
            <a:chOff x="0" y="0"/>
            <a:chExt cx="3579415" cy="3579415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42" id="42"/>
          <p:cNvGrpSpPr/>
          <p:nvPr/>
        </p:nvGrpSpPr>
        <p:grpSpPr>
          <a:xfrm rot="0">
            <a:off x="8374163" y="2493407"/>
            <a:ext cx="9745289" cy="3638627"/>
            <a:chOff x="0" y="0"/>
            <a:chExt cx="2566660" cy="95832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566660" cy="958321"/>
            </a:xfrm>
            <a:custGeom>
              <a:avLst/>
              <a:gdLst/>
              <a:ahLst/>
              <a:cxnLst/>
              <a:rect r="r" b="b" t="t" l="l"/>
              <a:pathLst>
                <a:path h="958321" w="2566660">
                  <a:moveTo>
                    <a:pt x="23833" y="0"/>
                  </a:moveTo>
                  <a:lnTo>
                    <a:pt x="2542828" y="0"/>
                  </a:lnTo>
                  <a:cubicBezTo>
                    <a:pt x="2555990" y="0"/>
                    <a:pt x="2566660" y="10670"/>
                    <a:pt x="2566660" y="23833"/>
                  </a:cubicBezTo>
                  <a:lnTo>
                    <a:pt x="2566660" y="934489"/>
                  </a:lnTo>
                  <a:cubicBezTo>
                    <a:pt x="2566660" y="940810"/>
                    <a:pt x="2564149" y="946871"/>
                    <a:pt x="2559680" y="951341"/>
                  </a:cubicBezTo>
                  <a:cubicBezTo>
                    <a:pt x="2555211" y="955810"/>
                    <a:pt x="2549148" y="958321"/>
                    <a:pt x="2542828" y="958321"/>
                  </a:cubicBezTo>
                  <a:lnTo>
                    <a:pt x="23833" y="958321"/>
                  </a:lnTo>
                  <a:cubicBezTo>
                    <a:pt x="17512" y="958321"/>
                    <a:pt x="11450" y="955810"/>
                    <a:pt x="6980" y="951341"/>
                  </a:cubicBezTo>
                  <a:cubicBezTo>
                    <a:pt x="2511" y="946871"/>
                    <a:pt x="0" y="940810"/>
                    <a:pt x="0" y="934489"/>
                  </a:cubicBezTo>
                  <a:lnTo>
                    <a:pt x="0" y="23833"/>
                  </a:lnTo>
                  <a:cubicBezTo>
                    <a:pt x="0" y="10670"/>
                    <a:pt x="10670" y="0"/>
                    <a:pt x="238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2566660" cy="958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8598722" y="2660904"/>
            <a:ext cx="9296171" cy="3245341"/>
          </a:xfrm>
          <a:custGeom>
            <a:avLst/>
            <a:gdLst/>
            <a:ahLst/>
            <a:cxnLst/>
            <a:rect r="r" b="b" t="t" l="l"/>
            <a:pathLst>
              <a:path h="3245341" w="9296171">
                <a:moveTo>
                  <a:pt x="0" y="0"/>
                </a:moveTo>
                <a:lnTo>
                  <a:pt x="9296171" y="0"/>
                </a:lnTo>
                <a:lnTo>
                  <a:pt x="9296171" y="3245341"/>
                </a:lnTo>
                <a:lnTo>
                  <a:pt x="0" y="32453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03" t="0" r="-703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1428885" y="2051458"/>
            <a:ext cx="7094912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spc="-5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Hỗ trợ từ Phần cứng (Hardware Support)</a:t>
            </a:r>
          </a:p>
          <a:p>
            <a:pPr algn="l" marL="0" indent="0" lvl="0">
              <a:lnSpc>
                <a:spcPts val="5500"/>
              </a:lnSpc>
              <a:spcBef>
                <a:spcPct val="0"/>
              </a:spcBef>
            </a:pPr>
          </a:p>
        </p:txBody>
      </p:sp>
      <p:sp>
        <p:nvSpPr>
          <p:cNvPr name="TextBox 47" id="47"/>
          <p:cNvSpPr txBox="true"/>
          <p:nvPr/>
        </p:nvSpPr>
        <p:spPr>
          <a:xfrm rot="0">
            <a:off x="1428885" y="3516631"/>
            <a:ext cx="6837759" cy="4297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</a:p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b="true" sz="2200" spc="-4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Giải pháp: 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Công nghệ hỗ trợ ảo hóa từ CPU:</a:t>
            </a:r>
            <a:r>
              <a:rPr lang="en-US" b="true" sz="2200" spc="-4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Intel VT-x &amp; AMD-V.</a:t>
            </a:r>
          </a:p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b="true" sz="2200" spc="-4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Cơ chế (Hình 10.3):</a:t>
            </a:r>
          </a:p>
          <a:p>
            <a:pPr algn="l" marL="949972" indent="-316657" lvl="2">
              <a:lnSpc>
                <a:spcPts val="3080"/>
              </a:lnSpc>
              <a:buFont typeface="Arial"/>
              <a:buChar char="⚬"/>
            </a:pP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Thêm các chế độ thực thi mới: </a:t>
            </a:r>
            <a:r>
              <a:rPr lang="en-US" b="true" sz="2200" spc="-4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VMX root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(cho hypervisor) &amp; </a:t>
            </a:r>
            <a:r>
              <a:rPr lang="en-US" b="true" sz="2200" spc="-4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VMX non-root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(cho guest).</a:t>
            </a:r>
          </a:p>
          <a:p>
            <a:pPr algn="l" marL="949972" indent="-316657" lvl="2">
              <a:lnSpc>
                <a:spcPts val="3080"/>
              </a:lnSpc>
              <a:buFont typeface="Arial"/>
              <a:buChar char="⚬"/>
            </a:pP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Tăng tốc việc chuyển đổi giữa hai chế độ (</a:t>
            </a:r>
            <a:r>
              <a:rPr lang="en-US" b="true" sz="2200" spc="-4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VMEntry / VMExit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</a:p>
          <a:p>
            <a:pPr algn="l" marL="474986" indent="-237493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00" spc="-4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Kết quả: 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Giảm đáng kể overhead, làm cho Ảo hóa Toàn phần trở nên cực kỳ hiệu quả.</a:t>
            </a:r>
          </a:p>
          <a:p>
            <a:pPr algn="l" marL="0" indent="0" lvl="0">
              <a:lnSpc>
                <a:spcPts val="3080"/>
              </a:lnSpc>
              <a:spcBef>
                <a:spcPct val="0"/>
              </a:spcBef>
            </a:pPr>
          </a:p>
        </p:txBody>
      </p:sp>
      <p:grpSp>
        <p:nvGrpSpPr>
          <p:cNvPr name="Group 48" id="48"/>
          <p:cNvGrpSpPr/>
          <p:nvPr/>
        </p:nvGrpSpPr>
        <p:grpSpPr>
          <a:xfrm rot="0">
            <a:off x="377600" y="321611"/>
            <a:ext cx="2102569" cy="275311"/>
            <a:chOff x="0" y="0"/>
            <a:chExt cx="2803426" cy="367081"/>
          </a:xfrm>
        </p:grpSpPr>
        <p:sp>
          <p:nvSpPr>
            <p:cNvPr name="TextBox 49" id="49"/>
            <p:cNvSpPr txBox="true"/>
            <p:nvPr/>
          </p:nvSpPr>
          <p:spPr>
            <a:xfrm rot="0">
              <a:off x="0" y="19050"/>
              <a:ext cx="1508522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Arowwai 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1521222" y="89374"/>
              <a:ext cx="1282204" cy="27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929292"/>
                  </a:solidFill>
                  <a:latin typeface="Lovelo"/>
                  <a:ea typeface="Lovelo"/>
                  <a:cs typeface="Lovelo"/>
                  <a:sym typeface="Lovelo"/>
                </a:rPr>
                <a:t>Industries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377600" y="9739082"/>
            <a:ext cx="4562061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www.reallygreatsite.com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8374163" y="-23657"/>
            <a:ext cx="2684561" cy="2684561"/>
            <a:chOff x="0" y="0"/>
            <a:chExt cx="3579415" cy="357941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-10800000">
            <a:off x="15596457" y="7602439"/>
            <a:ext cx="2684561" cy="2684561"/>
            <a:chOff x="0" y="0"/>
            <a:chExt cx="3579415" cy="3579415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42" id="42"/>
          <p:cNvGrpSpPr/>
          <p:nvPr/>
        </p:nvGrpSpPr>
        <p:grpSpPr>
          <a:xfrm rot="0">
            <a:off x="8608435" y="3057401"/>
            <a:ext cx="8057036" cy="5034249"/>
            <a:chOff x="0" y="0"/>
            <a:chExt cx="2122018" cy="132589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22018" cy="1325893"/>
            </a:xfrm>
            <a:custGeom>
              <a:avLst/>
              <a:gdLst/>
              <a:ahLst/>
              <a:cxnLst/>
              <a:rect r="r" b="b" t="t" l="l"/>
              <a:pathLst>
                <a:path h="1325893" w="2122018">
                  <a:moveTo>
                    <a:pt x="28827" y="0"/>
                  </a:moveTo>
                  <a:lnTo>
                    <a:pt x="2093191" y="0"/>
                  </a:lnTo>
                  <a:cubicBezTo>
                    <a:pt x="2100836" y="0"/>
                    <a:pt x="2108168" y="3037"/>
                    <a:pt x="2113574" y="8443"/>
                  </a:cubicBezTo>
                  <a:cubicBezTo>
                    <a:pt x="2118981" y="13849"/>
                    <a:pt x="2122018" y="21181"/>
                    <a:pt x="2122018" y="28827"/>
                  </a:cubicBezTo>
                  <a:lnTo>
                    <a:pt x="2122018" y="1297066"/>
                  </a:lnTo>
                  <a:cubicBezTo>
                    <a:pt x="2122018" y="1304711"/>
                    <a:pt x="2118981" y="1312044"/>
                    <a:pt x="2113574" y="1317450"/>
                  </a:cubicBezTo>
                  <a:cubicBezTo>
                    <a:pt x="2108168" y="1322856"/>
                    <a:pt x="2100836" y="1325893"/>
                    <a:pt x="2093191" y="1325893"/>
                  </a:cubicBezTo>
                  <a:lnTo>
                    <a:pt x="28827" y="1325893"/>
                  </a:lnTo>
                  <a:cubicBezTo>
                    <a:pt x="12906" y="1325893"/>
                    <a:pt x="0" y="1312987"/>
                    <a:pt x="0" y="1297066"/>
                  </a:cubicBezTo>
                  <a:lnTo>
                    <a:pt x="0" y="28827"/>
                  </a:lnTo>
                  <a:cubicBezTo>
                    <a:pt x="0" y="21181"/>
                    <a:pt x="3037" y="13849"/>
                    <a:pt x="8443" y="8443"/>
                  </a:cubicBezTo>
                  <a:cubicBezTo>
                    <a:pt x="13849" y="3037"/>
                    <a:pt x="21181" y="0"/>
                    <a:pt x="2882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2122018" cy="13258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8784586" y="3216097"/>
            <a:ext cx="7704735" cy="4723992"/>
          </a:xfrm>
          <a:custGeom>
            <a:avLst/>
            <a:gdLst/>
            <a:ahLst/>
            <a:cxnLst/>
            <a:rect r="r" b="b" t="t" l="l"/>
            <a:pathLst>
              <a:path h="4723992" w="7704735">
                <a:moveTo>
                  <a:pt x="0" y="0"/>
                </a:moveTo>
                <a:lnTo>
                  <a:pt x="7704734" y="0"/>
                </a:lnTo>
                <a:lnTo>
                  <a:pt x="7704734" y="4723992"/>
                </a:lnTo>
                <a:lnTo>
                  <a:pt x="0" y="47239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1428885" y="2746783"/>
            <a:ext cx="7094912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spc="-5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Xen Hypervisor</a:t>
            </a:r>
          </a:p>
          <a:p>
            <a:pPr algn="l" marL="0" indent="0" lvl="0">
              <a:lnSpc>
                <a:spcPts val="5500"/>
              </a:lnSpc>
              <a:spcBef>
                <a:spcPct val="0"/>
              </a:spcBef>
            </a:pPr>
          </a:p>
        </p:txBody>
      </p:sp>
      <p:sp>
        <p:nvSpPr>
          <p:cNvPr name="TextBox 47" id="47"/>
          <p:cNvSpPr txBox="true"/>
          <p:nvPr/>
        </p:nvSpPr>
        <p:spPr>
          <a:xfrm rot="0">
            <a:off x="1428885" y="3516631"/>
            <a:ext cx="6837759" cy="273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b="true" sz="2200" spc="-4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Tổng quan: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Hyperv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sor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mã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nguồn mở, ví dụ điển hình của </a:t>
            </a:r>
            <a:r>
              <a:rPr lang="en-US" b="true" sz="2200" spc="-4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Cận ảo hóa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b="true" sz="2200" spc="-4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Kiến trúc (Hình 10.4):</a:t>
            </a:r>
          </a:p>
          <a:p>
            <a:pPr algn="l" marL="949972" indent="-316657" lvl="2">
              <a:lnSpc>
                <a:spcPts val="3080"/>
              </a:lnSpc>
              <a:buFont typeface="Arial"/>
              <a:buChar char="⚬"/>
            </a:pPr>
            <a:r>
              <a:rPr lang="en-US" b="true" sz="2200" spc="-4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Do</a:t>
            </a:r>
            <a:r>
              <a:rPr lang="en-US" b="true" sz="2200" spc="-4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main 0 (Dom0):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VM đặc quyền, quản lý hệ thống.</a:t>
            </a:r>
          </a:p>
          <a:p>
            <a:pPr algn="l" marL="949972" indent="-316657" lvl="2">
              <a:lnSpc>
                <a:spcPts val="3080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200" spc="-4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Domain U (DomU):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Các 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VM t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hông thường.</a:t>
            </a:r>
          </a:p>
          <a:p>
            <a:pPr algn="l" marL="0" indent="0" lvl="0">
              <a:lnSpc>
                <a:spcPts val="3080"/>
              </a:lnSpc>
              <a:spcBef>
                <a:spcPct val="0"/>
              </a:spcBef>
            </a:pPr>
          </a:p>
        </p:txBody>
      </p:sp>
      <p:grpSp>
        <p:nvGrpSpPr>
          <p:cNvPr name="Group 48" id="48"/>
          <p:cNvGrpSpPr/>
          <p:nvPr/>
        </p:nvGrpSpPr>
        <p:grpSpPr>
          <a:xfrm rot="0">
            <a:off x="377600" y="321611"/>
            <a:ext cx="2102569" cy="275311"/>
            <a:chOff x="0" y="0"/>
            <a:chExt cx="2803426" cy="367081"/>
          </a:xfrm>
        </p:grpSpPr>
        <p:sp>
          <p:nvSpPr>
            <p:cNvPr name="TextBox 49" id="49"/>
            <p:cNvSpPr txBox="true"/>
            <p:nvPr/>
          </p:nvSpPr>
          <p:spPr>
            <a:xfrm rot="0">
              <a:off x="0" y="19050"/>
              <a:ext cx="1508522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Arowwai 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1521222" y="89374"/>
              <a:ext cx="1282204" cy="27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929292"/>
                  </a:solidFill>
                  <a:latin typeface="Lovelo"/>
                  <a:ea typeface="Lovelo"/>
                  <a:cs typeface="Lovelo"/>
                  <a:sym typeface="Lovelo"/>
                </a:rPr>
                <a:t>Industries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377600" y="9739082"/>
            <a:ext cx="4562061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www.reallygreatsite.com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8374163" y="-23657"/>
            <a:ext cx="2684561" cy="2684561"/>
            <a:chOff x="0" y="0"/>
            <a:chExt cx="3579415" cy="357941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-10800000">
            <a:off x="15596457" y="7602439"/>
            <a:ext cx="2684561" cy="2684561"/>
            <a:chOff x="0" y="0"/>
            <a:chExt cx="3579415" cy="3579415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42" id="42"/>
          <p:cNvGrpSpPr/>
          <p:nvPr/>
        </p:nvGrpSpPr>
        <p:grpSpPr>
          <a:xfrm rot="0">
            <a:off x="3331914" y="3603580"/>
            <a:ext cx="11118401" cy="5754570"/>
            <a:chOff x="0" y="0"/>
            <a:chExt cx="2928303" cy="151560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928303" cy="1515607"/>
            </a:xfrm>
            <a:custGeom>
              <a:avLst/>
              <a:gdLst/>
              <a:ahLst/>
              <a:cxnLst/>
              <a:rect r="r" b="b" t="t" l="l"/>
              <a:pathLst>
                <a:path h="1515607" w="2928303">
                  <a:moveTo>
                    <a:pt x="20889" y="0"/>
                  </a:moveTo>
                  <a:lnTo>
                    <a:pt x="2907414" y="0"/>
                  </a:lnTo>
                  <a:cubicBezTo>
                    <a:pt x="2912954" y="0"/>
                    <a:pt x="2918267" y="2201"/>
                    <a:pt x="2922185" y="6118"/>
                  </a:cubicBezTo>
                  <a:cubicBezTo>
                    <a:pt x="2926102" y="10036"/>
                    <a:pt x="2928303" y="15349"/>
                    <a:pt x="2928303" y="20889"/>
                  </a:cubicBezTo>
                  <a:lnTo>
                    <a:pt x="2928303" y="1494718"/>
                  </a:lnTo>
                  <a:cubicBezTo>
                    <a:pt x="2928303" y="1500258"/>
                    <a:pt x="2926102" y="1505571"/>
                    <a:pt x="2922185" y="1509489"/>
                  </a:cubicBezTo>
                  <a:cubicBezTo>
                    <a:pt x="2918267" y="1513406"/>
                    <a:pt x="2912954" y="1515607"/>
                    <a:pt x="2907414" y="1515607"/>
                  </a:cubicBezTo>
                  <a:lnTo>
                    <a:pt x="20889" y="1515607"/>
                  </a:lnTo>
                  <a:cubicBezTo>
                    <a:pt x="15349" y="1515607"/>
                    <a:pt x="10036" y="1513406"/>
                    <a:pt x="6118" y="1509489"/>
                  </a:cubicBezTo>
                  <a:cubicBezTo>
                    <a:pt x="2201" y="1505571"/>
                    <a:pt x="0" y="1500258"/>
                    <a:pt x="0" y="1494718"/>
                  </a:cubicBezTo>
                  <a:lnTo>
                    <a:pt x="0" y="20889"/>
                  </a:lnTo>
                  <a:cubicBezTo>
                    <a:pt x="0" y="15349"/>
                    <a:pt x="2201" y="10036"/>
                    <a:pt x="6118" y="6118"/>
                  </a:cubicBezTo>
                  <a:cubicBezTo>
                    <a:pt x="10036" y="2201"/>
                    <a:pt x="15349" y="0"/>
                    <a:pt x="208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2928303" cy="1515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3546761" y="3791449"/>
            <a:ext cx="10688706" cy="5378833"/>
          </a:xfrm>
          <a:custGeom>
            <a:avLst/>
            <a:gdLst/>
            <a:ahLst/>
            <a:cxnLst/>
            <a:rect r="r" b="b" t="t" l="l"/>
            <a:pathLst>
              <a:path h="5378833" w="10688706">
                <a:moveTo>
                  <a:pt x="0" y="0"/>
                </a:moveTo>
                <a:lnTo>
                  <a:pt x="10688707" y="0"/>
                </a:lnTo>
                <a:lnTo>
                  <a:pt x="10688707" y="5378833"/>
                </a:lnTo>
                <a:lnTo>
                  <a:pt x="0" y="53788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1428885" y="1779680"/>
            <a:ext cx="7094912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spc="-5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Xen Hypervisor</a:t>
            </a:r>
          </a:p>
          <a:p>
            <a:pPr algn="l" marL="0" indent="0" lvl="0">
              <a:lnSpc>
                <a:spcPts val="5500"/>
              </a:lnSpc>
              <a:spcBef>
                <a:spcPct val="0"/>
              </a:spcBef>
            </a:pPr>
          </a:p>
        </p:txBody>
      </p:sp>
      <p:sp>
        <p:nvSpPr>
          <p:cNvPr name="TextBox 47" id="47"/>
          <p:cNvSpPr txBox="true"/>
          <p:nvPr/>
        </p:nvSpPr>
        <p:spPr>
          <a:xfrm rot="0">
            <a:off x="1428885" y="2603754"/>
            <a:ext cx="8706092" cy="117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b="true" sz="2200" spc="-4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Mô</a:t>
            </a:r>
            <a:r>
              <a:rPr lang="en-US" b="true" sz="2200" spc="-4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hình I/O "Split Driver":</a:t>
            </a:r>
          </a:p>
          <a:p>
            <a:pPr algn="l" marL="949972" indent="-316657" lvl="2">
              <a:lnSpc>
                <a:spcPts val="3080"/>
              </a:lnSpc>
              <a:spcBef>
                <a:spcPct val="0"/>
              </a:spcBef>
              <a:buFont typeface="Arial"/>
              <a:buChar char="⚬"/>
            </a:pP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Frontend (Do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mU) và Backend (Dom0) giao tiếp qua kênh I/O.</a:t>
            </a:r>
          </a:p>
          <a:p>
            <a:pPr algn="l" marL="0" indent="0" lvl="0">
              <a:lnSpc>
                <a:spcPts val="3080"/>
              </a:lnSpc>
              <a:spcBef>
                <a:spcPct val="0"/>
              </a:spcBef>
            </a:pPr>
          </a:p>
        </p:txBody>
      </p:sp>
      <p:grpSp>
        <p:nvGrpSpPr>
          <p:cNvPr name="Group 48" id="48"/>
          <p:cNvGrpSpPr/>
          <p:nvPr/>
        </p:nvGrpSpPr>
        <p:grpSpPr>
          <a:xfrm rot="0">
            <a:off x="377600" y="321611"/>
            <a:ext cx="2102569" cy="275311"/>
            <a:chOff x="0" y="0"/>
            <a:chExt cx="2803426" cy="367081"/>
          </a:xfrm>
        </p:grpSpPr>
        <p:sp>
          <p:nvSpPr>
            <p:cNvPr name="TextBox 49" id="49"/>
            <p:cNvSpPr txBox="true"/>
            <p:nvPr/>
          </p:nvSpPr>
          <p:spPr>
            <a:xfrm rot="0">
              <a:off x="0" y="19050"/>
              <a:ext cx="1508522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Arowwai 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1521222" y="89374"/>
              <a:ext cx="1282204" cy="27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929292"/>
                  </a:solidFill>
                  <a:latin typeface="Lovelo"/>
                  <a:ea typeface="Lovelo"/>
                  <a:cs typeface="Lovelo"/>
                  <a:sym typeface="Lovelo"/>
                </a:rPr>
                <a:t>Industries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377600" y="9739082"/>
            <a:ext cx="4562061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www.reallygreatsite.com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8374163" y="-23657"/>
            <a:ext cx="2684561" cy="2684561"/>
            <a:chOff x="0" y="0"/>
            <a:chExt cx="3579415" cy="357941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-10800000">
            <a:off x="15596457" y="7602439"/>
            <a:ext cx="2684561" cy="2684561"/>
            <a:chOff x="0" y="0"/>
            <a:chExt cx="3579415" cy="3579415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TextBox 42" id="42"/>
          <p:cNvSpPr txBox="true"/>
          <p:nvPr/>
        </p:nvSpPr>
        <p:spPr>
          <a:xfrm rot="0">
            <a:off x="1428885" y="1084355"/>
            <a:ext cx="7094912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spc="-5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Tối ưu hóa hiệu năng mạng trong Xen</a:t>
            </a:r>
          </a:p>
          <a:p>
            <a:pPr algn="l" marL="0" indent="0" lvl="0">
              <a:lnSpc>
                <a:spcPts val="5500"/>
              </a:lnSpc>
              <a:spcBef>
                <a:spcPct val="0"/>
              </a:spcBef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2060289" y="3009955"/>
            <a:ext cx="8706092" cy="4297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b="true" sz="2200" spc="-4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Vấn đề: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Giao tiếp mạng là một trong những nguồn gây overhead lớn nhất.</a:t>
            </a:r>
          </a:p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b="true" sz="2200" spc="-4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Kỹ thuật tối ưu hóa:</a:t>
            </a:r>
          </a:p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b="true" sz="2200" spc="-4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Giao diện ảo cao cấp: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Tận dụng các tính năng của card 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mạng vật lý (checksum offload).</a:t>
            </a:r>
          </a:p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b="true" sz="2200" spc="-4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Ánh xạ lại trang nhớ (Page Re-mapping):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Thay vì sao chép dữ liệu, chỉ cần ánh xạ lại trang bộ nhớ chứa dữ liệu đó. Hiệu quả cực cao.</a:t>
            </a:r>
          </a:p>
          <a:p>
            <a:pPr algn="l" marL="474986" indent="-237493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00" spc="-4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Kết quả: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Cải thiện thông lượng mạng đáng kể (ví dụ: tốc độ gửi tăng từ 750 Mbps lên 3310 Mbps).</a:t>
            </a:r>
          </a:p>
          <a:p>
            <a:pPr algn="l" marL="0" indent="0" lvl="0">
              <a:lnSpc>
                <a:spcPts val="3080"/>
              </a:lnSpc>
              <a:spcBef>
                <a:spcPct val="0"/>
              </a:spcBef>
            </a:pPr>
          </a:p>
        </p:txBody>
      </p:sp>
      <p:grpSp>
        <p:nvGrpSpPr>
          <p:cNvPr name="Group 44" id="44"/>
          <p:cNvGrpSpPr/>
          <p:nvPr/>
        </p:nvGrpSpPr>
        <p:grpSpPr>
          <a:xfrm rot="0">
            <a:off x="377600" y="321611"/>
            <a:ext cx="2102569" cy="275311"/>
            <a:chOff x="0" y="0"/>
            <a:chExt cx="2803426" cy="367081"/>
          </a:xfrm>
        </p:grpSpPr>
        <p:sp>
          <p:nvSpPr>
            <p:cNvPr name="TextBox 45" id="45"/>
            <p:cNvSpPr txBox="true"/>
            <p:nvPr/>
          </p:nvSpPr>
          <p:spPr>
            <a:xfrm rot="0">
              <a:off x="0" y="19050"/>
              <a:ext cx="1508522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Arowwai 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1521222" y="89374"/>
              <a:ext cx="1282204" cy="27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929292"/>
                  </a:solidFill>
                  <a:latin typeface="Lovelo"/>
                  <a:ea typeface="Lovelo"/>
                  <a:cs typeface="Lovelo"/>
                  <a:sym typeface="Lovelo"/>
                </a:rPr>
                <a:t>Industries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377600" y="9739082"/>
            <a:ext cx="4562061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www.reallygreatsite.com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8374163" y="-23657"/>
            <a:ext cx="2684561" cy="2684561"/>
            <a:chOff x="0" y="0"/>
            <a:chExt cx="3579415" cy="357941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-10800000">
            <a:off x="15596457" y="7602439"/>
            <a:ext cx="2684561" cy="2684561"/>
            <a:chOff x="0" y="0"/>
            <a:chExt cx="3579415" cy="3579415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42" id="42"/>
          <p:cNvGrpSpPr/>
          <p:nvPr/>
        </p:nvGrpSpPr>
        <p:grpSpPr>
          <a:xfrm rot="0">
            <a:off x="9981547" y="1931899"/>
            <a:ext cx="5333321" cy="7012820"/>
            <a:chOff x="0" y="0"/>
            <a:chExt cx="1404661" cy="184699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04661" cy="1846998"/>
            </a:xfrm>
            <a:custGeom>
              <a:avLst/>
              <a:gdLst/>
              <a:ahLst/>
              <a:cxnLst/>
              <a:rect r="r" b="b" t="t" l="l"/>
              <a:pathLst>
                <a:path h="1846998" w="1404661">
                  <a:moveTo>
                    <a:pt x="43548" y="0"/>
                  </a:moveTo>
                  <a:lnTo>
                    <a:pt x="1361112" y="0"/>
                  </a:lnTo>
                  <a:cubicBezTo>
                    <a:pt x="1385163" y="0"/>
                    <a:pt x="1404661" y="19497"/>
                    <a:pt x="1404661" y="43548"/>
                  </a:cubicBezTo>
                  <a:lnTo>
                    <a:pt x="1404661" y="1803450"/>
                  </a:lnTo>
                  <a:cubicBezTo>
                    <a:pt x="1404661" y="1827501"/>
                    <a:pt x="1385163" y="1846998"/>
                    <a:pt x="1361112" y="1846998"/>
                  </a:cubicBezTo>
                  <a:lnTo>
                    <a:pt x="43548" y="1846998"/>
                  </a:lnTo>
                  <a:cubicBezTo>
                    <a:pt x="31999" y="1846998"/>
                    <a:pt x="20922" y="1842410"/>
                    <a:pt x="12755" y="1834243"/>
                  </a:cubicBezTo>
                  <a:cubicBezTo>
                    <a:pt x="4588" y="1826076"/>
                    <a:pt x="0" y="1814999"/>
                    <a:pt x="0" y="1803450"/>
                  </a:cubicBezTo>
                  <a:lnTo>
                    <a:pt x="0" y="43548"/>
                  </a:lnTo>
                  <a:cubicBezTo>
                    <a:pt x="0" y="19497"/>
                    <a:pt x="19497" y="0"/>
                    <a:pt x="4354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1404661" cy="1846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10209613" y="2106758"/>
            <a:ext cx="4854680" cy="6612861"/>
          </a:xfrm>
          <a:custGeom>
            <a:avLst/>
            <a:gdLst/>
            <a:ahLst/>
            <a:cxnLst/>
            <a:rect r="r" b="b" t="t" l="l"/>
            <a:pathLst>
              <a:path h="6612861" w="4854680">
                <a:moveTo>
                  <a:pt x="0" y="0"/>
                </a:moveTo>
                <a:lnTo>
                  <a:pt x="4854680" y="0"/>
                </a:lnTo>
                <a:lnTo>
                  <a:pt x="4854680" y="6612861"/>
                </a:lnTo>
                <a:lnTo>
                  <a:pt x="0" y="66128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1428885" y="2051458"/>
            <a:ext cx="7094912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spc="-5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KVM (Kernel-based Virtual Machine)</a:t>
            </a:r>
          </a:p>
          <a:p>
            <a:pPr algn="l" marL="0" indent="0" lvl="0">
              <a:lnSpc>
                <a:spcPts val="5500"/>
              </a:lnSpc>
              <a:spcBef>
                <a:spcPct val="0"/>
              </a:spcBef>
            </a:pPr>
          </a:p>
        </p:txBody>
      </p:sp>
      <p:sp>
        <p:nvSpPr>
          <p:cNvPr name="TextBox 47" id="47"/>
          <p:cNvSpPr txBox="true"/>
          <p:nvPr/>
        </p:nvSpPr>
        <p:spPr>
          <a:xfrm rot="0">
            <a:off x="1428885" y="3643045"/>
            <a:ext cx="6837759" cy="4297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b="true" sz="2200" spc="-4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Tổng quan: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Giải pháp ả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hóa tích hợp sẵn trong </a:t>
            </a:r>
            <a:r>
              <a:rPr lang="en-US" b="true" sz="2200" spc="-4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nhân Linux.</a:t>
            </a:r>
          </a:p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b="true" sz="2200" spc="-4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Kiến trúc: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Biến nhân L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inux thành một hypervisor loại 1.</a:t>
            </a:r>
          </a:p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b="true" sz="2200" spc="-4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Hoạt động:</a:t>
            </a:r>
          </a:p>
          <a:p>
            <a:pPr algn="l" marL="949972" indent="-316657" lvl="2">
              <a:lnSpc>
                <a:spcPts val="3080"/>
              </a:lnSpc>
              <a:buFont typeface="Arial"/>
              <a:buChar char="⚬"/>
            </a:pP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Phụ thuộc vào </a:t>
            </a:r>
            <a:r>
              <a:rPr lang="en-US" b="true" sz="2200" spc="-4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hỗ trợ phần cứng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(VT-x / AMD-V).</a:t>
            </a:r>
          </a:p>
          <a:p>
            <a:pPr algn="l" marL="949972" indent="-316657" lvl="2">
              <a:lnSpc>
                <a:spcPts val="3080"/>
              </a:lnSpc>
              <a:buFont typeface="Arial"/>
              <a:buChar char="⚬"/>
            </a:pP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Sử dụng </a:t>
            </a:r>
            <a:r>
              <a:rPr lang="en-US" b="true" sz="2200" spc="-4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QEMU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tr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ong không gian người dùng để giả lập thiết bị.</a:t>
            </a:r>
          </a:p>
          <a:p>
            <a:pPr algn="l" marL="474986" indent="-237493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00" spc="-4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Ưu điểm: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Tận dụng toàn bộ hệ sinh thái của Linux.</a:t>
            </a:r>
          </a:p>
          <a:p>
            <a:pPr algn="l" marL="0" indent="0" lvl="0">
              <a:lnSpc>
                <a:spcPts val="3080"/>
              </a:lnSpc>
              <a:spcBef>
                <a:spcPct val="0"/>
              </a:spcBef>
            </a:pPr>
          </a:p>
        </p:txBody>
      </p:sp>
      <p:grpSp>
        <p:nvGrpSpPr>
          <p:cNvPr name="Group 48" id="48"/>
          <p:cNvGrpSpPr/>
          <p:nvPr/>
        </p:nvGrpSpPr>
        <p:grpSpPr>
          <a:xfrm rot="0">
            <a:off x="377600" y="321611"/>
            <a:ext cx="2102569" cy="275311"/>
            <a:chOff x="0" y="0"/>
            <a:chExt cx="2803426" cy="367081"/>
          </a:xfrm>
        </p:grpSpPr>
        <p:sp>
          <p:nvSpPr>
            <p:cNvPr name="TextBox 49" id="49"/>
            <p:cNvSpPr txBox="true"/>
            <p:nvPr/>
          </p:nvSpPr>
          <p:spPr>
            <a:xfrm rot="0">
              <a:off x="0" y="19050"/>
              <a:ext cx="1508522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Arowwai 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1521222" y="89374"/>
              <a:ext cx="1282204" cy="27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929292"/>
                  </a:solidFill>
                  <a:latin typeface="Lovelo"/>
                  <a:ea typeface="Lovelo"/>
                  <a:cs typeface="Lovelo"/>
                  <a:sym typeface="Lovelo"/>
                </a:rPr>
                <a:t>Industries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377600" y="9739082"/>
            <a:ext cx="4562061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www.reallygreatsite.com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769" y="-4125826"/>
            <a:ext cx="13560749" cy="14830672"/>
            <a:chOff x="0" y="0"/>
            <a:chExt cx="891155" cy="9746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91155" cy="974609"/>
            </a:xfrm>
            <a:custGeom>
              <a:avLst/>
              <a:gdLst/>
              <a:ahLst/>
              <a:cxnLst/>
              <a:rect r="r" b="b" t="t" l="l"/>
              <a:pathLst>
                <a:path h="974609" w="891155">
                  <a:moveTo>
                    <a:pt x="445578" y="0"/>
                  </a:moveTo>
                  <a:cubicBezTo>
                    <a:pt x="199492" y="0"/>
                    <a:pt x="0" y="218174"/>
                    <a:pt x="0" y="487305"/>
                  </a:cubicBezTo>
                  <a:cubicBezTo>
                    <a:pt x="0" y="756436"/>
                    <a:pt x="199492" y="974609"/>
                    <a:pt x="445578" y="974609"/>
                  </a:cubicBezTo>
                  <a:cubicBezTo>
                    <a:pt x="691663" y="974609"/>
                    <a:pt x="891155" y="756436"/>
                    <a:pt x="891155" y="487305"/>
                  </a:cubicBezTo>
                  <a:cubicBezTo>
                    <a:pt x="891155" y="218174"/>
                    <a:pt x="691663" y="0"/>
                    <a:pt x="44557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A6A6A6"/>
              </a:solidFill>
              <a:prstDash val="sysDot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83546" y="43745"/>
              <a:ext cx="724064" cy="839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874179" y="2452711"/>
            <a:ext cx="363624" cy="363624"/>
            <a:chOff x="0" y="0"/>
            <a:chExt cx="484832" cy="48483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484832" cy="484832"/>
              <a:chOff x="0" y="0"/>
              <a:chExt cx="813004" cy="81300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3004" cy="813004"/>
              </a:xfrm>
              <a:custGeom>
                <a:avLst/>
                <a:gdLst/>
                <a:ahLst/>
                <a:cxnLst/>
                <a:rect r="r" b="b" t="t" l="l"/>
                <a:pathLst>
                  <a:path h="813004" w="813004">
                    <a:moveTo>
                      <a:pt x="406502" y="0"/>
                    </a:moveTo>
                    <a:cubicBezTo>
                      <a:pt x="181997" y="0"/>
                      <a:pt x="0" y="181997"/>
                      <a:pt x="0" y="406502"/>
                    </a:cubicBezTo>
                    <a:cubicBezTo>
                      <a:pt x="0" y="631007"/>
                      <a:pt x="181997" y="813004"/>
                      <a:pt x="406502" y="813004"/>
                    </a:cubicBezTo>
                    <a:cubicBezTo>
                      <a:pt x="631007" y="813004"/>
                      <a:pt x="813004" y="631007"/>
                      <a:pt x="813004" y="406502"/>
                    </a:cubicBezTo>
                    <a:cubicBezTo>
                      <a:pt x="813004" y="181997"/>
                      <a:pt x="631007" y="0"/>
                      <a:pt x="406502" y="0"/>
                    </a:cubicBezTo>
                    <a:close/>
                  </a:path>
                </a:pathLst>
              </a:custGeom>
              <a:solidFill>
                <a:srgbClr val="EEEEEF"/>
              </a:solidFill>
              <a:ln w="19050" cap="sq">
                <a:solidFill>
                  <a:srgbClr val="A6A6A6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19" y="28594"/>
                <a:ext cx="660566" cy="708191"/>
              </a:xfrm>
              <a:prstGeom prst="rect">
                <a:avLst/>
              </a:prstGeom>
            </p:spPr>
            <p:txBody>
              <a:bodyPr anchor="ctr" rtlCol="false" tIns="43309" lIns="43309" bIns="43309" rIns="43309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56447" y="51316"/>
              <a:ext cx="371937" cy="382200"/>
              <a:chOff x="0" y="0"/>
              <a:chExt cx="796469" cy="81844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96469" cy="818446"/>
              </a:xfrm>
              <a:custGeom>
                <a:avLst/>
                <a:gdLst/>
                <a:ahLst/>
                <a:cxnLst/>
                <a:rect r="r" b="b" t="t" l="l"/>
                <a:pathLst>
                  <a:path h="818446" w="796469">
                    <a:moveTo>
                      <a:pt x="398235" y="0"/>
                    </a:moveTo>
                    <a:cubicBezTo>
                      <a:pt x="178296" y="0"/>
                      <a:pt x="0" y="183215"/>
                      <a:pt x="0" y="409223"/>
                    </a:cubicBezTo>
                    <a:cubicBezTo>
                      <a:pt x="0" y="635231"/>
                      <a:pt x="178296" y="818446"/>
                      <a:pt x="398235" y="818446"/>
                    </a:cubicBezTo>
                    <a:cubicBezTo>
                      <a:pt x="618174" y="818446"/>
                      <a:pt x="796469" y="635231"/>
                      <a:pt x="796469" y="409223"/>
                    </a:cubicBezTo>
                    <a:cubicBezTo>
                      <a:pt x="796469" y="183215"/>
                      <a:pt x="618174" y="0"/>
                      <a:pt x="398235" y="0"/>
                    </a:cubicBezTo>
                    <a:close/>
                  </a:path>
                </a:pathLst>
              </a:custGeom>
              <a:solidFill>
                <a:srgbClr val="EEEEEF"/>
              </a:solidFill>
              <a:ln w="19050" cap="sq">
                <a:solidFill>
                  <a:srgbClr val="A6A6A6"/>
                </a:solidFill>
                <a:prstDash val="sysDot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4669" y="29104"/>
                <a:ext cx="647131" cy="712613"/>
              </a:xfrm>
              <a:prstGeom prst="rect">
                <a:avLst/>
              </a:prstGeom>
            </p:spPr>
            <p:txBody>
              <a:bodyPr anchor="ctr" rtlCol="false" tIns="43309" lIns="43309" bIns="43309" rIns="43309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AutoShape 12" id="12"/>
          <p:cNvSpPr/>
          <p:nvPr/>
        </p:nvSpPr>
        <p:spPr>
          <a:xfrm flipH="true">
            <a:off x="778038" y="4940163"/>
            <a:ext cx="8277954" cy="6371679"/>
          </a:xfrm>
          <a:prstGeom prst="line">
            <a:avLst/>
          </a:prstGeom>
          <a:ln cap="flat" w="19050">
            <a:gradFill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8874179" y="4576539"/>
            <a:ext cx="363624" cy="363624"/>
            <a:chOff x="0" y="0"/>
            <a:chExt cx="484832" cy="484832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484832" cy="484832"/>
              <a:chOff x="0" y="0"/>
              <a:chExt cx="813004" cy="81300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3004" cy="813004"/>
              </a:xfrm>
              <a:custGeom>
                <a:avLst/>
                <a:gdLst/>
                <a:ahLst/>
                <a:cxnLst/>
                <a:rect r="r" b="b" t="t" l="l"/>
                <a:pathLst>
                  <a:path h="813004" w="813004">
                    <a:moveTo>
                      <a:pt x="406502" y="0"/>
                    </a:moveTo>
                    <a:cubicBezTo>
                      <a:pt x="181997" y="0"/>
                      <a:pt x="0" y="181997"/>
                      <a:pt x="0" y="406502"/>
                    </a:cubicBezTo>
                    <a:cubicBezTo>
                      <a:pt x="0" y="631007"/>
                      <a:pt x="181997" y="813004"/>
                      <a:pt x="406502" y="813004"/>
                    </a:cubicBezTo>
                    <a:cubicBezTo>
                      <a:pt x="631007" y="813004"/>
                      <a:pt x="813004" y="631007"/>
                      <a:pt x="813004" y="406502"/>
                    </a:cubicBezTo>
                    <a:cubicBezTo>
                      <a:pt x="813004" y="181997"/>
                      <a:pt x="631007" y="0"/>
                      <a:pt x="406502" y="0"/>
                    </a:cubicBezTo>
                    <a:close/>
                  </a:path>
                </a:pathLst>
              </a:custGeom>
              <a:solidFill>
                <a:srgbClr val="EEEEEF"/>
              </a:solidFill>
              <a:ln w="19050" cap="sq">
                <a:solidFill>
                  <a:srgbClr val="A6A6A6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19" y="28594"/>
                <a:ext cx="660566" cy="708191"/>
              </a:xfrm>
              <a:prstGeom prst="rect">
                <a:avLst/>
              </a:prstGeom>
            </p:spPr>
            <p:txBody>
              <a:bodyPr anchor="ctr" rtlCol="false" tIns="43309" lIns="43309" bIns="43309" rIns="43309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56447" y="51316"/>
              <a:ext cx="371937" cy="382200"/>
              <a:chOff x="0" y="0"/>
              <a:chExt cx="796469" cy="81844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96469" cy="818446"/>
              </a:xfrm>
              <a:custGeom>
                <a:avLst/>
                <a:gdLst/>
                <a:ahLst/>
                <a:cxnLst/>
                <a:rect r="r" b="b" t="t" l="l"/>
                <a:pathLst>
                  <a:path h="818446" w="796469">
                    <a:moveTo>
                      <a:pt x="398235" y="0"/>
                    </a:moveTo>
                    <a:cubicBezTo>
                      <a:pt x="178296" y="0"/>
                      <a:pt x="0" y="183215"/>
                      <a:pt x="0" y="409223"/>
                    </a:cubicBezTo>
                    <a:cubicBezTo>
                      <a:pt x="0" y="635231"/>
                      <a:pt x="178296" y="818446"/>
                      <a:pt x="398235" y="818446"/>
                    </a:cubicBezTo>
                    <a:cubicBezTo>
                      <a:pt x="618174" y="818446"/>
                      <a:pt x="796469" y="635231"/>
                      <a:pt x="796469" y="409223"/>
                    </a:cubicBezTo>
                    <a:cubicBezTo>
                      <a:pt x="796469" y="183215"/>
                      <a:pt x="618174" y="0"/>
                      <a:pt x="398235" y="0"/>
                    </a:cubicBezTo>
                    <a:close/>
                  </a:path>
                </a:pathLst>
              </a:custGeom>
              <a:solidFill>
                <a:srgbClr val="EEEEEF"/>
              </a:solidFill>
              <a:ln w="19050" cap="sq">
                <a:solidFill>
                  <a:srgbClr val="A6A6A6"/>
                </a:solidFill>
                <a:prstDash val="sysDot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4669" y="29104"/>
                <a:ext cx="647131" cy="712613"/>
              </a:xfrm>
              <a:prstGeom prst="rect">
                <a:avLst/>
              </a:prstGeom>
            </p:spPr>
            <p:txBody>
              <a:bodyPr anchor="ctr" rtlCol="false" tIns="43309" lIns="43309" bIns="43309" rIns="43309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20" id="20"/>
          <p:cNvGrpSpPr/>
          <p:nvPr/>
        </p:nvGrpSpPr>
        <p:grpSpPr>
          <a:xfrm rot="0">
            <a:off x="8874179" y="6346267"/>
            <a:ext cx="363624" cy="363624"/>
            <a:chOff x="0" y="0"/>
            <a:chExt cx="484832" cy="484832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484832" cy="484832"/>
              <a:chOff x="0" y="0"/>
              <a:chExt cx="813004" cy="81300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3004" cy="813004"/>
              </a:xfrm>
              <a:custGeom>
                <a:avLst/>
                <a:gdLst/>
                <a:ahLst/>
                <a:cxnLst/>
                <a:rect r="r" b="b" t="t" l="l"/>
                <a:pathLst>
                  <a:path h="813004" w="813004">
                    <a:moveTo>
                      <a:pt x="406502" y="0"/>
                    </a:moveTo>
                    <a:cubicBezTo>
                      <a:pt x="181997" y="0"/>
                      <a:pt x="0" y="181997"/>
                      <a:pt x="0" y="406502"/>
                    </a:cubicBezTo>
                    <a:cubicBezTo>
                      <a:pt x="0" y="631007"/>
                      <a:pt x="181997" y="813004"/>
                      <a:pt x="406502" y="813004"/>
                    </a:cubicBezTo>
                    <a:cubicBezTo>
                      <a:pt x="631007" y="813004"/>
                      <a:pt x="813004" y="631007"/>
                      <a:pt x="813004" y="406502"/>
                    </a:cubicBezTo>
                    <a:cubicBezTo>
                      <a:pt x="813004" y="181997"/>
                      <a:pt x="631007" y="0"/>
                      <a:pt x="406502" y="0"/>
                    </a:cubicBezTo>
                    <a:close/>
                  </a:path>
                </a:pathLst>
              </a:custGeom>
              <a:solidFill>
                <a:srgbClr val="EEEEEF"/>
              </a:solidFill>
              <a:ln w="19050" cap="sq">
                <a:solidFill>
                  <a:srgbClr val="A6A6A6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19" y="28594"/>
                <a:ext cx="660566" cy="708191"/>
              </a:xfrm>
              <a:prstGeom prst="rect">
                <a:avLst/>
              </a:prstGeom>
            </p:spPr>
            <p:txBody>
              <a:bodyPr anchor="ctr" rtlCol="false" tIns="43309" lIns="43309" bIns="43309" rIns="43309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56447" y="51316"/>
              <a:ext cx="371937" cy="382200"/>
              <a:chOff x="0" y="0"/>
              <a:chExt cx="796469" cy="818446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796469" cy="818446"/>
              </a:xfrm>
              <a:custGeom>
                <a:avLst/>
                <a:gdLst/>
                <a:ahLst/>
                <a:cxnLst/>
                <a:rect r="r" b="b" t="t" l="l"/>
                <a:pathLst>
                  <a:path h="818446" w="796469">
                    <a:moveTo>
                      <a:pt x="398235" y="0"/>
                    </a:moveTo>
                    <a:cubicBezTo>
                      <a:pt x="178296" y="0"/>
                      <a:pt x="0" y="183215"/>
                      <a:pt x="0" y="409223"/>
                    </a:cubicBezTo>
                    <a:cubicBezTo>
                      <a:pt x="0" y="635231"/>
                      <a:pt x="178296" y="818446"/>
                      <a:pt x="398235" y="818446"/>
                    </a:cubicBezTo>
                    <a:cubicBezTo>
                      <a:pt x="618174" y="818446"/>
                      <a:pt x="796469" y="635231"/>
                      <a:pt x="796469" y="409223"/>
                    </a:cubicBezTo>
                    <a:cubicBezTo>
                      <a:pt x="796469" y="183215"/>
                      <a:pt x="618174" y="0"/>
                      <a:pt x="398235" y="0"/>
                    </a:cubicBezTo>
                    <a:close/>
                  </a:path>
                </a:pathLst>
              </a:custGeom>
              <a:solidFill>
                <a:srgbClr val="EEEEEF"/>
              </a:solidFill>
              <a:ln w="19050" cap="sq">
                <a:solidFill>
                  <a:srgbClr val="A6A6A6"/>
                </a:solidFill>
                <a:prstDash val="sysDot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4669" y="29104"/>
                <a:ext cx="647131" cy="712613"/>
              </a:xfrm>
              <a:prstGeom prst="rect">
                <a:avLst/>
              </a:prstGeom>
            </p:spPr>
            <p:txBody>
              <a:bodyPr anchor="ctr" rtlCol="false" tIns="43309" lIns="43309" bIns="43309" rIns="43309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TextBox 27" id="27"/>
          <p:cNvSpPr txBox="true"/>
          <p:nvPr/>
        </p:nvSpPr>
        <p:spPr>
          <a:xfrm rot="0">
            <a:off x="9420818" y="2305863"/>
            <a:ext cx="7230305" cy="4863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5095" indent="-297548" lvl="1">
              <a:lnSpc>
                <a:spcPts val="3858"/>
              </a:lnSpc>
              <a:buFont typeface="Arial"/>
              <a:buChar char="•"/>
            </a:pP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Ảo hóa là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công nghệ trụ cột của điện toán đám mây.</a:t>
            </a:r>
          </a:p>
          <a:p>
            <a:pPr algn="l" marL="595095" indent="-297548" lvl="1">
              <a:lnSpc>
                <a:spcPts val="3858"/>
              </a:lnSpc>
              <a:buFont typeface="Arial"/>
              <a:buChar char="•"/>
            </a:pPr>
            <a:r>
              <a:rPr lang="en-US" b="true" sz="275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Cách ly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là mục tiêu chính, đảm bảo </a:t>
            </a:r>
            <a:r>
              <a:rPr lang="en-US" b="true" sz="275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hiệu năng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và </a:t>
            </a:r>
            <a:r>
              <a:rPr lang="en-US" b="true" sz="275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bảo mật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l" marL="595095" indent="-297548" lvl="1">
              <a:lnSpc>
                <a:spcPts val="3858"/>
              </a:lnSpc>
              <a:buFont typeface="Arial"/>
              <a:buChar char="•"/>
            </a:pPr>
            <a:r>
              <a:rPr lang="en-US" b="true" sz="275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Ảo hóa toàn phần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và </a:t>
            </a:r>
            <a:r>
              <a:rPr lang="en-US" b="true" sz="275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Cận ảo hóa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là hai phương pháp chính.</a:t>
            </a:r>
          </a:p>
          <a:p>
            <a:pPr algn="l" marL="595095" indent="-297548" lvl="1">
              <a:lnSpc>
                <a:spcPts val="3858"/>
              </a:lnSpc>
              <a:buFont typeface="Arial"/>
              <a:buChar char="•"/>
            </a:pPr>
            <a:r>
              <a:rPr lang="en-US" b="true" sz="275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Hỗ trợ từ phần cứng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đã làm thay đổi cuộc chơi.</a:t>
            </a:r>
          </a:p>
          <a:p>
            <a:pPr algn="l" marL="595095" indent="-297548" lvl="1">
              <a:lnSpc>
                <a:spcPts val="3858"/>
              </a:lnSpc>
              <a:buFont typeface="Arial"/>
              <a:buChar char="•"/>
            </a:pPr>
            <a:r>
              <a:rPr lang="en-US" b="true" sz="275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Xen 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và </a:t>
            </a:r>
            <a:r>
              <a:rPr lang="en-US" b="true" sz="275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KVM 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là hai hypervisor hàng đầu.</a:t>
            </a:r>
          </a:p>
          <a:p>
            <a:pPr algn="l">
              <a:lnSpc>
                <a:spcPts val="3858"/>
              </a:lnSpc>
            </a:pPr>
          </a:p>
        </p:txBody>
      </p:sp>
      <p:sp>
        <p:nvSpPr>
          <p:cNvPr name="AutoShape 28" id="28"/>
          <p:cNvSpPr/>
          <p:nvPr/>
        </p:nvSpPr>
        <p:spPr>
          <a:xfrm flipH="true">
            <a:off x="778038" y="6709891"/>
            <a:ext cx="8277954" cy="4601951"/>
          </a:xfrm>
          <a:prstGeom prst="line">
            <a:avLst/>
          </a:prstGeom>
          <a:ln cap="flat" w="19050">
            <a:gradFill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H="true">
            <a:off x="778038" y="2816335"/>
            <a:ext cx="8277954" cy="8495507"/>
          </a:xfrm>
          <a:prstGeom prst="line">
            <a:avLst/>
          </a:prstGeom>
          <a:ln cap="flat" w="19050">
            <a:gradFill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2898522" y="2873485"/>
            <a:ext cx="3792722" cy="1596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9"/>
              </a:lnSpc>
            </a:pPr>
            <a:r>
              <a:rPr lang="en-US" sz="5699" spc="-56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Tổng kết</a:t>
            </a:r>
          </a:p>
          <a:p>
            <a:pPr algn="l" marL="0" indent="0" lvl="0">
              <a:lnSpc>
                <a:spcPts val="6269"/>
              </a:lnSpc>
              <a:spcBef>
                <a:spcPct val="0"/>
              </a:spcBef>
            </a:pPr>
          </a:p>
        </p:txBody>
      </p:sp>
      <p:grpSp>
        <p:nvGrpSpPr>
          <p:cNvPr name="Group 31" id="31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41" id="41"/>
          <p:cNvGrpSpPr/>
          <p:nvPr/>
        </p:nvGrpSpPr>
        <p:grpSpPr>
          <a:xfrm rot="5400000">
            <a:off x="16185093" y="860230"/>
            <a:ext cx="1857699" cy="1857699"/>
            <a:chOff x="0" y="0"/>
            <a:chExt cx="2476932" cy="2476932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51" id="51"/>
          <p:cNvGrpSpPr/>
          <p:nvPr/>
        </p:nvGrpSpPr>
        <p:grpSpPr>
          <a:xfrm rot="0">
            <a:off x="15939886" y="7255244"/>
            <a:ext cx="2348114" cy="3522171"/>
            <a:chOff x="0" y="0"/>
            <a:chExt cx="3130819" cy="4696228"/>
          </a:xfrm>
        </p:grpSpPr>
        <p:grpSp>
          <p:nvGrpSpPr>
            <p:cNvPr name="Group 52" id="52"/>
            <p:cNvGrpSpPr/>
            <p:nvPr/>
          </p:nvGrpSpPr>
          <p:grpSpPr>
            <a:xfrm rot="5400000">
              <a:off x="0" y="0"/>
              <a:ext cx="1565409" cy="1565409"/>
              <a:chOff x="0" y="0"/>
              <a:chExt cx="812800" cy="8128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82723" lIns="82723" bIns="82723" rIns="82723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5400000">
              <a:off x="1565409" y="1565409"/>
              <a:ext cx="1565409" cy="1565409"/>
              <a:chOff x="0" y="0"/>
              <a:chExt cx="812800" cy="8128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82723" lIns="82723" bIns="82723" rIns="82723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5400000">
              <a:off x="0" y="3130819"/>
              <a:ext cx="1565409" cy="1565409"/>
              <a:chOff x="0" y="0"/>
              <a:chExt cx="812800" cy="812800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82723" lIns="82723" bIns="82723" rIns="82723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61" id="61"/>
          <p:cNvGrpSpPr/>
          <p:nvPr/>
        </p:nvGrpSpPr>
        <p:grpSpPr>
          <a:xfrm rot="5400000">
            <a:off x="4352632" y="1202051"/>
            <a:ext cx="1174057" cy="1174057"/>
            <a:chOff x="0" y="0"/>
            <a:chExt cx="812800" cy="8128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E1E2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104561" lIns="104561" bIns="104561" rIns="104561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5400000">
            <a:off x="2102907" y="7255244"/>
            <a:ext cx="1174057" cy="1174057"/>
            <a:chOff x="0" y="0"/>
            <a:chExt cx="812800" cy="812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BEBEC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104561" lIns="104561" bIns="104561" rIns="104561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5400000">
            <a:off x="5517186" y="1202051"/>
            <a:ext cx="1174057" cy="1174057"/>
            <a:chOff x="0" y="0"/>
            <a:chExt cx="812800" cy="8128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AEB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104561" lIns="104561" bIns="104561" rIns="104561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5400000">
            <a:off x="928850" y="7255244"/>
            <a:ext cx="1174057" cy="1174057"/>
            <a:chOff x="0" y="0"/>
            <a:chExt cx="812800" cy="8128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BEBEC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104561" lIns="104561" bIns="104561" rIns="104561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377600" y="321611"/>
            <a:ext cx="2102569" cy="275311"/>
            <a:chOff x="0" y="0"/>
            <a:chExt cx="2803426" cy="367081"/>
          </a:xfrm>
        </p:grpSpPr>
        <p:sp>
          <p:nvSpPr>
            <p:cNvPr name="TextBox 74" id="74"/>
            <p:cNvSpPr txBox="true"/>
            <p:nvPr/>
          </p:nvSpPr>
          <p:spPr>
            <a:xfrm rot="0">
              <a:off x="0" y="19050"/>
              <a:ext cx="1508522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Arowwai </a:t>
              </a:r>
            </a:p>
          </p:txBody>
        </p:sp>
        <p:sp>
          <p:nvSpPr>
            <p:cNvPr name="TextBox 75" id="75"/>
            <p:cNvSpPr txBox="true"/>
            <p:nvPr/>
          </p:nvSpPr>
          <p:spPr>
            <a:xfrm rot="0">
              <a:off x="1521222" y="89374"/>
              <a:ext cx="1282204" cy="27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929292"/>
                  </a:solidFill>
                  <a:latin typeface="Lovelo"/>
                  <a:ea typeface="Lovelo"/>
                  <a:cs typeface="Lovelo"/>
                  <a:sym typeface="Lovelo"/>
                </a:rPr>
                <a:t>Industries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377600" y="9739082"/>
            <a:ext cx="4562061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www.reallygreatsite.com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8374163" y="-23657"/>
            <a:ext cx="2684561" cy="2684561"/>
            <a:chOff x="0" y="0"/>
            <a:chExt cx="3579415" cy="357941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-10800000">
            <a:off x="15596457" y="7602439"/>
            <a:ext cx="2684561" cy="2684561"/>
            <a:chOff x="0" y="0"/>
            <a:chExt cx="3579415" cy="3579415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Freeform 42" id="42"/>
          <p:cNvSpPr/>
          <p:nvPr/>
        </p:nvSpPr>
        <p:spPr>
          <a:xfrm flipH="false" flipV="false" rot="0">
            <a:off x="7862184" y="2237603"/>
            <a:ext cx="9076553" cy="5364836"/>
          </a:xfrm>
          <a:custGeom>
            <a:avLst/>
            <a:gdLst/>
            <a:ahLst/>
            <a:cxnLst/>
            <a:rect r="r" b="b" t="t" l="l"/>
            <a:pathLst>
              <a:path h="5364836" w="9076553">
                <a:moveTo>
                  <a:pt x="0" y="0"/>
                </a:moveTo>
                <a:lnTo>
                  <a:pt x="9076554" y="0"/>
                </a:lnTo>
                <a:lnTo>
                  <a:pt x="9076554" y="5364836"/>
                </a:lnTo>
                <a:lnTo>
                  <a:pt x="0" y="53648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928850" y="1905815"/>
            <a:ext cx="7094912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  <a:spcBef>
                <a:spcPct val="0"/>
              </a:spcBef>
            </a:pPr>
            <a:r>
              <a:rPr lang="en-US" b="true" sz="5000" spc="-5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Ảo hóa lồng nhau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28700" y="2772232"/>
            <a:ext cx="6321255" cy="1563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0"/>
              </a:lnSpc>
              <a:spcBef>
                <a:spcPct val="0"/>
              </a:spcBef>
            </a:pP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Ả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hóa lồng nhau (Nested Virtualization) là kỹ thuật cho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phép chạy một Hypervisor bên trong một máy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ả</a:t>
            </a:r>
            <a:r>
              <a:rPr lang="en-US" sz="2200" spc="-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o, và máy ảo đó lại có thể tạo máy ảo khác bên trong nó.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377600" y="321611"/>
            <a:ext cx="2102569" cy="275311"/>
            <a:chOff x="0" y="0"/>
            <a:chExt cx="2803426" cy="367081"/>
          </a:xfrm>
        </p:grpSpPr>
        <p:sp>
          <p:nvSpPr>
            <p:cNvPr name="TextBox 46" id="46"/>
            <p:cNvSpPr txBox="true"/>
            <p:nvPr/>
          </p:nvSpPr>
          <p:spPr>
            <a:xfrm rot="0">
              <a:off x="0" y="19050"/>
              <a:ext cx="1508522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Arowwai 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1521222" y="89374"/>
              <a:ext cx="1282204" cy="27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929292"/>
                  </a:solidFill>
                  <a:latin typeface="Lovelo"/>
                  <a:ea typeface="Lovelo"/>
                  <a:cs typeface="Lovelo"/>
                  <a:sym typeface="Lovelo"/>
                </a:rPr>
                <a:t>Industries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377600" y="9739082"/>
            <a:ext cx="4562061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www.reallygreatsite.com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28885" y="5166684"/>
            <a:ext cx="5649797" cy="197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4" indent="-237492" lvl="1">
              <a:lnSpc>
                <a:spcPts val="3366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L1</a:t>
            </a: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không truy cập trực tiếp phần cứng → phải nhờ L0 hỗ trợ.</a:t>
            </a:r>
          </a:p>
          <a:p>
            <a:pPr algn="l" marL="474984" indent="-237492" lvl="1">
              <a:lnSpc>
                <a:spcPts val="3366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L0 phải giả lập (emulate) hoặc ủy quyền (pass-through) các lệnh ảo hóa cho L1.</a:t>
            </a:r>
          </a:p>
          <a:p>
            <a:pPr algn="ctr">
              <a:lnSpc>
                <a:spcPts val="1980"/>
              </a:lnSpc>
              <a:spcBef>
                <a:spcPct val="0"/>
              </a:spcBef>
            </a:pPr>
          </a:p>
        </p:txBody>
      </p:sp>
      <p:sp>
        <p:nvSpPr>
          <p:cNvPr name="TextBox 50" id="50"/>
          <p:cNvSpPr txBox="true"/>
          <p:nvPr/>
        </p:nvSpPr>
        <p:spPr>
          <a:xfrm rot="0">
            <a:off x="928850" y="4714598"/>
            <a:ext cx="7094912" cy="439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10"/>
              </a:lnSpc>
              <a:spcBef>
                <a:spcPct val="0"/>
              </a:spcBef>
            </a:pPr>
            <a:r>
              <a:rPr lang="en-US" b="true" sz="3100" spc="-31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Tính chất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8374163" y="-23657"/>
            <a:ext cx="2684561" cy="2684561"/>
            <a:chOff x="0" y="0"/>
            <a:chExt cx="3579415" cy="357941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-10800000">
            <a:off x="15596457" y="7602439"/>
            <a:ext cx="2684561" cy="2684561"/>
            <a:chOff x="0" y="0"/>
            <a:chExt cx="3579415" cy="3579415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Freeform 42" id="42"/>
          <p:cNvSpPr/>
          <p:nvPr/>
        </p:nvSpPr>
        <p:spPr>
          <a:xfrm flipH="false" flipV="false" rot="0">
            <a:off x="8602139" y="3443592"/>
            <a:ext cx="8807808" cy="4694245"/>
          </a:xfrm>
          <a:custGeom>
            <a:avLst/>
            <a:gdLst/>
            <a:ahLst/>
            <a:cxnLst/>
            <a:rect r="r" b="b" t="t" l="l"/>
            <a:pathLst>
              <a:path h="4694245" w="8807808">
                <a:moveTo>
                  <a:pt x="0" y="0"/>
                </a:moveTo>
                <a:lnTo>
                  <a:pt x="8807808" y="0"/>
                </a:lnTo>
                <a:lnTo>
                  <a:pt x="8807808" y="4694245"/>
                </a:lnTo>
                <a:lnTo>
                  <a:pt x="0" y="46942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306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428885" y="2503220"/>
            <a:ext cx="12001697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  <a:spcBef>
                <a:spcPct val="0"/>
              </a:spcBef>
            </a:pPr>
            <a:r>
              <a:rPr lang="en-US" b="true" sz="5000" spc="-5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Tại sao cần ảo hóa lồng nhau ?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377600" y="321611"/>
            <a:ext cx="2102569" cy="275311"/>
            <a:chOff x="0" y="0"/>
            <a:chExt cx="2803426" cy="367081"/>
          </a:xfrm>
        </p:grpSpPr>
        <p:sp>
          <p:nvSpPr>
            <p:cNvPr name="TextBox 45" id="45"/>
            <p:cNvSpPr txBox="true"/>
            <p:nvPr/>
          </p:nvSpPr>
          <p:spPr>
            <a:xfrm rot="0">
              <a:off x="0" y="19050"/>
              <a:ext cx="1508522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Arowwai 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1521222" y="89374"/>
              <a:ext cx="1282204" cy="27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929292"/>
                  </a:solidFill>
                  <a:latin typeface="Lovelo"/>
                  <a:ea typeface="Lovelo"/>
                  <a:cs typeface="Lovelo"/>
                  <a:sym typeface="Lovelo"/>
                </a:rPr>
                <a:t>Industries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377600" y="9739082"/>
            <a:ext cx="4562061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www.reallygreatsite.com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161450" y="3744346"/>
            <a:ext cx="5827633" cy="279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4" indent="-302262" lvl="1">
              <a:lnSpc>
                <a:spcPts val="5628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</a:t>
            </a:r>
            <a:r>
              <a:rPr lang="en-US" sz="2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iểm thử &amp; Nghiên cứu (R&amp;D)</a:t>
            </a:r>
          </a:p>
          <a:p>
            <a:pPr algn="l" marL="604524" indent="-302262" lvl="1">
              <a:lnSpc>
                <a:spcPts val="5628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Cloud Computing</a:t>
            </a:r>
          </a:p>
          <a:p>
            <a:pPr algn="l" marL="604524" indent="-302262" lvl="1">
              <a:lnSpc>
                <a:spcPts val="5628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Hỗ trợ Live Migration đa tầng</a:t>
            </a:r>
          </a:p>
          <a:p>
            <a:pPr algn="l" marL="604524" indent="-302262" lvl="1">
              <a:lnSpc>
                <a:spcPts val="5628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Phân tách và cô lập môi trường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8374163" y="-23657"/>
            <a:ext cx="2684561" cy="2684561"/>
            <a:chOff x="0" y="0"/>
            <a:chExt cx="3579415" cy="357941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-10800000">
            <a:off x="15596457" y="7602439"/>
            <a:ext cx="2684561" cy="2684561"/>
            <a:chOff x="0" y="0"/>
            <a:chExt cx="3579415" cy="3579415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TextBox 42" id="42"/>
          <p:cNvSpPr txBox="true"/>
          <p:nvPr/>
        </p:nvSpPr>
        <p:spPr>
          <a:xfrm rot="0">
            <a:off x="1235196" y="2498979"/>
            <a:ext cx="13598018" cy="350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2"/>
              </a:lnSpc>
            </a:pPr>
            <a:r>
              <a:rPr lang="en-US" sz="1996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Nguyên tắc cốt lõi: Bẫy và Mô phỏng (Trap and Emulate)</a:t>
            </a:r>
          </a:p>
          <a:p>
            <a:pPr algn="l" marL="430959" indent="-215480" lvl="1">
              <a:lnSpc>
                <a:spcPts val="4012"/>
              </a:lnSpc>
              <a:buFont typeface="Arial"/>
              <a:buChar char="•"/>
            </a:pPr>
            <a:r>
              <a:rPr lang="en-US" sz="199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Kh</a:t>
            </a:r>
            <a:r>
              <a:rPr lang="en-US" sz="199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 hypervisor L1 thực thi một lệnh ảo hóa nhạy cảm (privileged instruction), lệnh này không chạy trực tiếp.</a:t>
            </a:r>
          </a:p>
          <a:p>
            <a:pPr algn="l" marL="430959" indent="-215480" lvl="1">
              <a:lnSpc>
                <a:spcPts val="4012"/>
              </a:lnSpc>
              <a:buFont typeface="Arial"/>
              <a:buChar char="•"/>
            </a:pPr>
            <a:r>
              <a:rPr lang="en-US" sz="199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Phần cứng sẽ "bẫy" (trap) lệnh này và chuyển quyền điều khiển xuống cho hypervisor L0.</a:t>
            </a:r>
          </a:p>
          <a:p>
            <a:pPr algn="l" marL="430959" indent="-215480" lvl="1">
              <a:lnSpc>
                <a:spcPts val="4012"/>
              </a:lnSpc>
              <a:buFont typeface="Arial"/>
              <a:buChar char="•"/>
            </a:pPr>
            <a:r>
              <a:rPr lang="en-US" sz="199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Hypervisor L0 sẽ mô phỏng kết quả của lệnh đó và trả về cho L1.</a:t>
            </a:r>
          </a:p>
          <a:p>
            <a:pPr algn="l">
              <a:lnSpc>
                <a:spcPts val="4012"/>
              </a:lnSpc>
            </a:pPr>
            <a:r>
              <a:rPr lang="en-US" b="true" sz="199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Vai trò của VMCS (Virtual Machine Control Structure):</a:t>
            </a:r>
          </a:p>
          <a:p>
            <a:pPr algn="l" marL="430959" indent="-215480" lvl="1">
              <a:lnSpc>
                <a:spcPts val="4012"/>
              </a:lnSpc>
              <a:buFont typeface="Arial"/>
              <a:buChar char="•"/>
            </a:pPr>
            <a:r>
              <a:rPr lang="en-US" sz="199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Các cấu trúc dữ liệu (VMCS01, VMCS12, VMCS02) được dùng để quản lý trạng thái của các máy ảo ở mỗi cấp.</a:t>
            </a:r>
          </a:p>
          <a:p>
            <a:pPr algn="l" marL="430959" indent="-215480" lvl="1">
              <a:lnSpc>
                <a:spcPts val="4012"/>
              </a:lnSpc>
              <a:buFont typeface="Arial"/>
              <a:buChar char="•"/>
            </a:pPr>
            <a:r>
              <a:rPr lang="en-US" sz="199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L0 kết hợp thông tin từ L1 và L2 để tạo ra một cấu hình máy ảo hợp lệ có thể chạy trực tiếp trên phần cứng.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3467104" y="6276124"/>
            <a:ext cx="10519947" cy="2982176"/>
          </a:xfrm>
          <a:custGeom>
            <a:avLst/>
            <a:gdLst/>
            <a:ahLst/>
            <a:cxnLst/>
            <a:rect r="r" b="b" t="t" l="l"/>
            <a:pathLst>
              <a:path h="2982176" w="10519947">
                <a:moveTo>
                  <a:pt x="0" y="0"/>
                </a:moveTo>
                <a:lnTo>
                  <a:pt x="10519948" y="0"/>
                </a:lnTo>
                <a:lnTo>
                  <a:pt x="10519948" y="2982176"/>
                </a:lnTo>
                <a:lnTo>
                  <a:pt x="0" y="29821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235196" y="1620859"/>
            <a:ext cx="12001697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  <a:spcBef>
                <a:spcPct val="0"/>
              </a:spcBef>
            </a:pPr>
            <a:r>
              <a:rPr lang="en-US" b="true" sz="5000" spc="-5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Tại sao cần ảo hóa lồng nhau x86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377600" y="321611"/>
            <a:ext cx="2102569" cy="275311"/>
            <a:chOff x="0" y="0"/>
            <a:chExt cx="2803426" cy="367081"/>
          </a:xfrm>
        </p:grpSpPr>
        <p:sp>
          <p:nvSpPr>
            <p:cNvPr name="TextBox 46" id="46"/>
            <p:cNvSpPr txBox="true"/>
            <p:nvPr/>
          </p:nvSpPr>
          <p:spPr>
            <a:xfrm rot="0">
              <a:off x="0" y="19050"/>
              <a:ext cx="1508522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Arowwai 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1521222" y="89374"/>
              <a:ext cx="1282204" cy="27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929292"/>
                  </a:solidFill>
                  <a:latin typeface="Lovelo"/>
                  <a:ea typeface="Lovelo"/>
                  <a:cs typeface="Lovelo"/>
                  <a:sym typeface="Lovelo"/>
                </a:rPr>
                <a:t>Industries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377600" y="9739082"/>
            <a:ext cx="4562061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www.reallygreatsite.com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8374163" y="-23657"/>
            <a:ext cx="2684561" cy="2684561"/>
            <a:chOff x="0" y="0"/>
            <a:chExt cx="3579415" cy="357941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-10800000">
            <a:off x="15596457" y="7602439"/>
            <a:ext cx="2684561" cy="2684561"/>
            <a:chOff x="0" y="0"/>
            <a:chExt cx="3579415" cy="3579415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Freeform 42" id="42"/>
          <p:cNvSpPr/>
          <p:nvPr/>
        </p:nvSpPr>
        <p:spPr>
          <a:xfrm flipH="false" flipV="false" rot="0">
            <a:off x="2337408" y="2805061"/>
            <a:ext cx="12967554" cy="5473156"/>
          </a:xfrm>
          <a:custGeom>
            <a:avLst/>
            <a:gdLst/>
            <a:ahLst/>
            <a:cxnLst/>
            <a:rect r="r" b="b" t="t" l="l"/>
            <a:pathLst>
              <a:path h="5473156" w="12967554">
                <a:moveTo>
                  <a:pt x="0" y="0"/>
                </a:moveTo>
                <a:lnTo>
                  <a:pt x="12967554" y="0"/>
                </a:lnTo>
                <a:lnTo>
                  <a:pt x="12967554" y="5473155"/>
                </a:lnTo>
                <a:lnTo>
                  <a:pt x="0" y="54731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71" r="-2475" b="-1471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235196" y="1620859"/>
            <a:ext cx="12001697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  <a:spcBef>
                <a:spcPct val="0"/>
              </a:spcBef>
            </a:pPr>
            <a:r>
              <a:rPr lang="en-US" b="true" sz="5000" spc="-5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Ghép kênh Hypervisor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377600" y="321611"/>
            <a:ext cx="2102569" cy="275311"/>
            <a:chOff x="0" y="0"/>
            <a:chExt cx="2803426" cy="367081"/>
          </a:xfrm>
        </p:grpSpPr>
        <p:sp>
          <p:nvSpPr>
            <p:cNvPr name="TextBox 45" id="45"/>
            <p:cNvSpPr txBox="true"/>
            <p:nvPr/>
          </p:nvSpPr>
          <p:spPr>
            <a:xfrm rot="0">
              <a:off x="0" y="19050"/>
              <a:ext cx="1508522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Arowwai 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1521222" y="89374"/>
              <a:ext cx="1282204" cy="27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929292"/>
                  </a:solidFill>
                  <a:latin typeface="Lovelo"/>
                  <a:ea typeface="Lovelo"/>
                  <a:cs typeface="Lovelo"/>
                  <a:sym typeface="Lovelo"/>
                </a:rPr>
                <a:t>Industries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377600" y="9739082"/>
            <a:ext cx="4562061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www.reallygreatsite.com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8374163" y="-23657"/>
            <a:ext cx="2684561" cy="2684561"/>
            <a:chOff x="0" y="0"/>
            <a:chExt cx="3579415" cy="357941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-10800000">
            <a:off x="15596457" y="7602439"/>
            <a:ext cx="2684561" cy="2684561"/>
            <a:chOff x="0" y="0"/>
            <a:chExt cx="3579415" cy="3579415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TextBox 42" id="42"/>
          <p:cNvSpPr txBox="true"/>
          <p:nvPr/>
        </p:nvSpPr>
        <p:spPr>
          <a:xfrm rot="0">
            <a:off x="1235196" y="1715474"/>
            <a:ext cx="15100720" cy="61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30"/>
              </a:lnSpc>
              <a:spcBef>
                <a:spcPct val="0"/>
              </a:spcBef>
            </a:pPr>
            <a:r>
              <a:rPr lang="en-US" b="true" sz="4300" spc="-43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MÁY ẢO DỰA TRÊN NHÂN TIN CẬY CHO ARMV8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377600" y="321611"/>
            <a:ext cx="2102569" cy="275311"/>
            <a:chOff x="0" y="0"/>
            <a:chExt cx="2803426" cy="367081"/>
          </a:xfrm>
        </p:grpSpPr>
        <p:sp>
          <p:nvSpPr>
            <p:cNvPr name="TextBox 44" id="44"/>
            <p:cNvSpPr txBox="true"/>
            <p:nvPr/>
          </p:nvSpPr>
          <p:spPr>
            <a:xfrm rot="0">
              <a:off x="0" y="19050"/>
              <a:ext cx="1508522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Arowwai 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1521222" y="89374"/>
              <a:ext cx="1282204" cy="27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929292"/>
                  </a:solidFill>
                  <a:latin typeface="Lovelo"/>
                  <a:ea typeface="Lovelo"/>
                  <a:cs typeface="Lovelo"/>
                  <a:sym typeface="Lovelo"/>
                </a:rPr>
                <a:t>Industries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377600" y="9739082"/>
            <a:ext cx="4562061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www.reallygreatsite.com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84654" y="2718054"/>
            <a:ext cx="14801804" cy="5544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6111" indent="-313055" lvl="1">
              <a:lnSpc>
                <a:spcPts val="4901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Bối cảnh: Các thiết bị hiện đại (Điện thoại, IoT, Xe hơi) xử lý cả tác vụ thông thường và dữ liệu siêu nhạy cảm.</a:t>
            </a:r>
          </a:p>
          <a:p>
            <a:pPr algn="just" marL="626111" indent="-313055" lvl="1">
              <a:lnSpc>
                <a:spcPts val="4901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Vấn đề lớn:</a:t>
            </a:r>
          </a:p>
          <a:p>
            <a:pPr algn="just" marL="1252221" indent="-417407" lvl="2">
              <a:lnSpc>
                <a:spcPts val="4901"/>
              </a:lnSpc>
              <a:buFont typeface="Arial"/>
              <a:buChar char="⚬"/>
            </a:pPr>
            <a:r>
              <a:rPr lang="en-US" sz="2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Hệ điều hành chính (Android, Linux) có thể bị tấn công.</a:t>
            </a:r>
          </a:p>
          <a:p>
            <a:pPr algn="just" marL="1252221" indent="-417407" lvl="2">
              <a:lnSpc>
                <a:spcPts val="4901"/>
              </a:lnSpc>
              <a:buFont typeface="Arial"/>
              <a:buChar char="⚬"/>
            </a:pPr>
            <a:r>
              <a:rPr lang="en-US" sz="2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Nếu HĐH bị xâm nhập, dữ liệu nhạy cảm (vân tay, mật khẩu, thông tin thanh toán) sẽ bị đánh cắp.</a:t>
            </a:r>
          </a:p>
          <a:p>
            <a:pPr algn="just" marL="626111" indent="-313055" lvl="1">
              <a:lnSpc>
                <a:spcPts val="4901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Câu hỏi: Làm thế nào để bảo vệ dữ liệu nhạy cảm ngay cả khi hệ điều hành đã bị hack?</a:t>
            </a:r>
          </a:p>
          <a:p>
            <a:pPr algn="just">
              <a:lnSpc>
                <a:spcPts val="4901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8374163" y="-23657"/>
            <a:ext cx="2684561" cy="2684561"/>
            <a:chOff x="0" y="0"/>
            <a:chExt cx="3579415" cy="357941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-10800000">
            <a:off x="15596457" y="7602439"/>
            <a:ext cx="2684561" cy="2684561"/>
            <a:chOff x="0" y="0"/>
            <a:chExt cx="3579415" cy="3579415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TextBox 42" id="42"/>
          <p:cNvSpPr txBox="true"/>
          <p:nvPr/>
        </p:nvSpPr>
        <p:spPr>
          <a:xfrm rot="0">
            <a:off x="1235196" y="1715474"/>
            <a:ext cx="15100720" cy="61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30"/>
              </a:lnSpc>
              <a:spcBef>
                <a:spcPct val="0"/>
              </a:spcBef>
            </a:pPr>
            <a:r>
              <a:rPr lang="en-US" b="true" sz="4300" spc="-43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GIẢI PHÁP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377600" y="321611"/>
            <a:ext cx="2102569" cy="275311"/>
            <a:chOff x="0" y="0"/>
            <a:chExt cx="2803426" cy="367081"/>
          </a:xfrm>
        </p:grpSpPr>
        <p:sp>
          <p:nvSpPr>
            <p:cNvPr name="TextBox 44" id="44"/>
            <p:cNvSpPr txBox="true"/>
            <p:nvPr/>
          </p:nvSpPr>
          <p:spPr>
            <a:xfrm rot="0">
              <a:off x="0" y="19050"/>
              <a:ext cx="1508522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Arowwai 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1521222" y="89374"/>
              <a:ext cx="1282204" cy="27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929292"/>
                  </a:solidFill>
                  <a:latin typeface="Lovelo"/>
                  <a:ea typeface="Lovelo"/>
                  <a:cs typeface="Lovelo"/>
                  <a:sym typeface="Lovelo"/>
                </a:rPr>
                <a:t>Industries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377600" y="9739082"/>
            <a:ext cx="4562061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www.reallygreatsite.com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84654" y="2727579"/>
            <a:ext cx="14801804" cy="6062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72"/>
              </a:lnSpc>
            </a:pPr>
            <a:r>
              <a:rPr lang="en-US" sz="2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Giải pháp C</a:t>
            </a:r>
            <a:r>
              <a:rPr lang="en-US" sz="2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ốt lõi: TÁCH BIỆT HOÀN TOÀN</a:t>
            </a:r>
          </a:p>
          <a:p>
            <a:pPr algn="just" marL="626111" indent="-313055" lvl="1">
              <a:lnSpc>
                <a:spcPts val="4872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Công nghệ Phần cứng: ARM TrustZone</a:t>
            </a:r>
          </a:p>
          <a:p>
            <a:pPr algn="just" marL="626111" indent="-313055" lvl="1">
              <a:lnSpc>
                <a:spcPts val="4872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Tính năng tích hợp sẵn trong CPU ARMv8.</a:t>
            </a:r>
          </a:p>
          <a:p>
            <a:pPr algn="just" marL="626111" indent="-313055" lvl="1">
              <a:lnSpc>
                <a:spcPts val="4872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Chia CPU thành 2 "thế giới" riêng biệt ở cấp độ phần cứng.</a:t>
            </a:r>
          </a:p>
          <a:p>
            <a:pPr algn="just">
              <a:lnSpc>
                <a:spcPts val="4872"/>
              </a:lnSpc>
            </a:pPr>
            <a:r>
              <a:rPr lang="en-US" sz="2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Công nghệ Phần mềm: Môi trường Thực thi Tin cậy (TEE)</a:t>
            </a:r>
          </a:p>
          <a:p>
            <a:pPr algn="just" marL="626111" indent="-313055" lvl="1">
              <a:lnSpc>
                <a:spcPts val="4872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Một h</a:t>
            </a:r>
            <a:r>
              <a:rPr lang="en-US" sz="2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ệ điều hành siêu nhỏ, siêu an toàn chạy trong "thế giới" được bảo vệ.</a:t>
            </a:r>
          </a:p>
          <a:p>
            <a:pPr algn="just" marL="626111" indent="-313055" lvl="1">
              <a:lnSpc>
                <a:spcPts val="4872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Chỉ chạy các Ứng dụng Tin cậy (Trusted Apps) đã được kiểm duyệt.</a:t>
            </a:r>
          </a:p>
          <a:p>
            <a:pPr algn="just">
              <a:lnSpc>
                <a:spcPts val="4872"/>
              </a:lnSpc>
            </a:pPr>
            <a:r>
              <a:rPr lang="en-US" sz="2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"Máy ảo dựa trên nhân tin cậy" (T-KVM): Là lớp phần mềm ảo hóa, có vai trò xây dựng và quản lý toàn bộ hệ thống này.</a:t>
            </a:r>
          </a:p>
          <a:p>
            <a:pPr algn="just">
              <a:lnSpc>
                <a:spcPts val="4872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8374163" y="-23657"/>
            <a:ext cx="2684561" cy="2684561"/>
            <a:chOff x="0" y="0"/>
            <a:chExt cx="3579415" cy="357941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-10800000">
            <a:off x="15596457" y="7602439"/>
            <a:ext cx="2684561" cy="2684561"/>
            <a:chOff x="0" y="0"/>
            <a:chExt cx="3579415" cy="3579415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Freeform 42" id="42"/>
          <p:cNvSpPr/>
          <p:nvPr/>
        </p:nvSpPr>
        <p:spPr>
          <a:xfrm flipH="false" flipV="false" rot="0">
            <a:off x="8871112" y="2660904"/>
            <a:ext cx="8723209" cy="5504744"/>
          </a:xfrm>
          <a:custGeom>
            <a:avLst/>
            <a:gdLst/>
            <a:ahLst/>
            <a:cxnLst/>
            <a:rect r="r" b="b" t="t" l="l"/>
            <a:pathLst>
              <a:path h="5504744" w="8723209">
                <a:moveTo>
                  <a:pt x="0" y="0"/>
                </a:moveTo>
                <a:lnTo>
                  <a:pt x="8723208" y="0"/>
                </a:lnTo>
                <a:lnTo>
                  <a:pt x="8723208" y="5504745"/>
                </a:lnTo>
                <a:lnTo>
                  <a:pt x="0" y="55047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54" t="0" r="-3674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235196" y="1715474"/>
            <a:ext cx="15100720" cy="61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30"/>
              </a:lnSpc>
              <a:spcBef>
                <a:spcPct val="0"/>
              </a:spcBef>
            </a:pPr>
            <a:r>
              <a:rPr lang="en-US" b="true" sz="4300" spc="-43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MÔI TRƯỜNG TIN CẬY TEE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377600" y="321611"/>
            <a:ext cx="2102569" cy="275311"/>
            <a:chOff x="0" y="0"/>
            <a:chExt cx="2803426" cy="367081"/>
          </a:xfrm>
        </p:grpSpPr>
        <p:sp>
          <p:nvSpPr>
            <p:cNvPr name="TextBox 45" id="45"/>
            <p:cNvSpPr txBox="true"/>
            <p:nvPr/>
          </p:nvSpPr>
          <p:spPr>
            <a:xfrm rot="0">
              <a:off x="0" y="19050"/>
              <a:ext cx="1508522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Arowwai 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1521222" y="89374"/>
              <a:ext cx="1282204" cy="27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929292"/>
                  </a:solidFill>
                  <a:latin typeface="Lovelo"/>
                  <a:ea typeface="Lovelo"/>
                  <a:cs typeface="Lovelo"/>
                  <a:sym typeface="Lovelo"/>
                </a:rPr>
                <a:t>Industries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377600" y="9739082"/>
            <a:ext cx="4562061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www.reallygreatsite.com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70177" y="3078170"/>
            <a:ext cx="7138967" cy="616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4108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Thách thức:</a:t>
            </a: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Bảo vệ hệ thống khỏi các cu</a:t>
            </a: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ộc tấn công ngay từ khi bật nguồn.</a:t>
            </a:r>
          </a:p>
          <a:p>
            <a:pPr algn="l" marL="561342" indent="-280671" lvl="1">
              <a:lnSpc>
                <a:spcPts val="4108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Giải pháp:</a:t>
            </a: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Chuỗi Tin cậy (Chain of Trust)</a:t>
            </a:r>
          </a:p>
          <a:p>
            <a:pPr algn="l" marL="1122684" indent="-374228" lvl="2">
              <a:lnSpc>
                <a:spcPts val="4108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Một quy trình khởi động đa tầng.</a:t>
            </a:r>
          </a:p>
          <a:p>
            <a:pPr algn="l" marL="1122684" indent="-374228" lvl="2">
              <a:lnSpc>
                <a:spcPts val="4108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Mỗi tầng sẽ xác thực mã của tầng tiếp theo trước khi chạy.</a:t>
            </a:r>
          </a:p>
          <a:p>
            <a:pPr algn="l" marL="1122684" indent="-374228" lvl="2">
              <a:lnSpc>
                <a:spcPts val="4108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Bắt đầu từ một gốc tin cậy không thể thay đổi trong phần cứng (ROM).</a:t>
            </a:r>
          </a:p>
          <a:p>
            <a:pPr algn="l" marL="561342" indent="-280671" lvl="1">
              <a:lnSpc>
                <a:spcPts val="4108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Kết quả:</a:t>
            </a: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Đảm bảo hệ điều hành và hypervisor được khởi chạy trên một nền tảng hoàn toàn an toàn và chưa bị can thiệp.</a:t>
            </a:r>
          </a:p>
          <a:p>
            <a:pPr algn="l">
              <a:lnSpc>
                <a:spcPts val="4108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8374163" y="-23657"/>
            <a:ext cx="2684561" cy="2684561"/>
            <a:chOff x="0" y="0"/>
            <a:chExt cx="3579415" cy="357941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-10800000">
            <a:off x="15596457" y="7602439"/>
            <a:ext cx="2684561" cy="2684561"/>
            <a:chOff x="0" y="0"/>
            <a:chExt cx="3579415" cy="3579415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TextBox 42" id="42"/>
          <p:cNvSpPr txBox="true"/>
          <p:nvPr/>
        </p:nvSpPr>
        <p:spPr>
          <a:xfrm rot="0">
            <a:off x="1235196" y="1715474"/>
            <a:ext cx="15100720" cy="61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30"/>
              </a:lnSpc>
              <a:spcBef>
                <a:spcPct val="0"/>
              </a:spcBef>
            </a:pPr>
            <a:r>
              <a:rPr lang="en-US" sz="4300" spc="-43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VẤN ĐỀ CỐT LÕI “RÒ RỈ ĐẶC QUYỀN 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377600" y="321611"/>
            <a:ext cx="2102569" cy="275311"/>
            <a:chOff x="0" y="0"/>
            <a:chExt cx="2803426" cy="367081"/>
          </a:xfrm>
        </p:grpSpPr>
        <p:sp>
          <p:nvSpPr>
            <p:cNvPr name="TextBox 44" id="44"/>
            <p:cNvSpPr txBox="true"/>
            <p:nvPr/>
          </p:nvSpPr>
          <p:spPr>
            <a:xfrm rot="0">
              <a:off x="0" y="19050"/>
              <a:ext cx="1508522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Arowwai 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1521222" y="89374"/>
              <a:ext cx="1282204" cy="27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929292"/>
                  </a:solidFill>
                  <a:latin typeface="Lovelo"/>
                  <a:ea typeface="Lovelo"/>
                  <a:cs typeface="Lovelo"/>
                  <a:sym typeface="Lovelo"/>
                </a:rPr>
                <a:t>Industries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377600" y="9739082"/>
            <a:ext cx="4562061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www.reallygreatsite.com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28885" y="2593048"/>
            <a:ext cx="14907031" cy="4605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4" indent="-248287" lvl="1">
              <a:lnSpc>
                <a:spcPts val="4071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Ảo g</a:t>
            </a: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iác bị phá vỡ: Ảo hóa toàn phần yêu cầu "đánh lừa" HĐH khách (Guest OS) rằng nó đang chạy ở cấp cao nhất (PL0).</a:t>
            </a:r>
          </a:p>
          <a:p>
            <a:pPr algn="l" marL="496574" indent="-248287" lvl="1">
              <a:lnSpc>
                <a:spcPts val="4071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Thực tế trên Itanium:</a:t>
            </a:r>
          </a:p>
          <a:p>
            <a:pPr algn="l" marL="993148" indent="-331049" lvl="2">
              <a:lnSpc>
                <a:spcPts val="4071"/>
              </a:lnSpc>
              <a:buFont typeface="Arial"/>
              <a:buChar char="⚬"/>
            </a:pP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Ring Compression: Hypervisor chiếm PL0/PL1, đẩy Guest OS xuống PL2.</a:t>
            </a:r>
          </a:p>
          <a:p>
            <a:pPr algn="l" marL="993148" indent="-331049" lvl="2">
              <a:lnSpc>
                <a:spcPts val="4071"/>
              </a:lnSpc>
              <a:buFont typeface="Arial"/>
              <a:buChar char="⚬"/>
            </a:pP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Privilege Leaking: Itanium cho phép Guest OS (ngay cả ở PL2) dùng các lệnh thông thường để phát hiện ra mình không ở PL0.</a:t>
            </a:r>
          </a:p>
          <a:p>
            <a:pPr algn="l" marL="496574" indent="-248287" lvl="1">
              <a:lnSpc>
                <a:spcPts val="4071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Hậu quả: Guest OS "biết" mình đang bị ảo hóa -&gt; Hệ thống từ chối khởi động hoặc bị lỗi (crash).</a:t>
            </a:r>
          </a:p>
          <a:p>
            <a:pPr algn="l" marL="496574" indent="-248287" lvl="1">
              <a:lnSpc>
                <a:spcPts val="4071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=&gt; Ảo hóa Toàn phần là BẤT KHẢ THI.</a:t>
            </a:r>
          </a:p>
          <a:p>
            <a:pPr algn="l">
              <a:lnSpc>
                <a:spcPts val="4071"/>
              </a:lnSpc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8374163" y="-23657"/>
            <a:ext cx="2684561" cy="2684561"/>
            <a:chOff x="0" y="0"/>
            <a:chExt cx="3579415" cy="357941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-10800000">
            <a:off x="15596457" y="7602439"/>
            <a:ext cx="2684561" cy="2684561"/>
            <a:chOff x="0" y="0"/>
            <a:chExt cx="3579415" cy="3579415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TextBox 42" id="42"/>
          <p:cNvSpPr txBox="true"/>
          <p:nvPr/>
        </p:nvSpPr>
        <p:spPr>
          <a:xfrm rot="0">
            <a:off x="1235196" y="1715474"/>
            <a:ext cx="15100720" cy="61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30"/>
              </a:lnSpc>
              <a:spcBef>
                <a:spcPct val="0"/>
              </a:spcBef>
            </a:pPr>
            <a:r>
              <a:rPr lang="en-US" sz="4300" spc="-43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BÁN ẢO HÓA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377600" y="321611"/>
            <a:ext cx="2102569" cy="275311"/>
            <a:chOff x="0" y="0"/>
            <a:chExt cx="2803426" cy="367081"/>
          </a:xfrm>
        </p:grpSpPr>
        <p:sp>
          <p:nvSpPr>
            <p:cNvPr name="TextBox 44" id="44"/>
            <p:cNvSpPr txBox="true"/>
            <p:nvPr/>
          </p:nvSpPr>
          <p:spPr>
            <a:xfrm rot="0">
              <a:off x="0" y="19050"/>
              <a:ext cx="1508522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Arowwai 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1521222" y="89374"/>
              <a:ext cx="1282204" cy="27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929292"/>
                  </a:solidFill>
                  <a:latin typeface="Lovelo"/>
                  <a:ea typeface="Lovelo"/>
                  <a:cs typeface="Lovelo"/>
                  <a:sym typeface="Lovelo"/>
                </a:rPr>
                <a:t>Industries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377600" y="9739082"/>
            <a:ext cx="4562061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www.reallygreatsite.com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28885" y="2593048"/>
            <a:ext cx="14907031" cy="4091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huyển từ "Đánh lừa" sang "Hợp tác":</a:t>
            </a:r>
          </a:p>
          <a:p>
            <a:pPr algn="l" marL="496574" indent="-248287" lvl="1">
              <a:lnSpc>
                <a:spcPts val="4071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Đây là con đường duy nhất còn lại.</a:t>
            </a:r>
          </a:p>
          <a:p>
            <a:pPr algn="l" marL="496574" indent="-248287" lvl="1">
              <a:lnSpc>
                <a:spcPts val="4071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Yêu </a:t>
            </a: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cầu: Sửa đổi mã nguồn của Hệ điều hành khách (Guest OS).</a:t>
            </a:r>
          </a:p>
          <a:p>
            <a:pPr algn="l">
              <a:lnSpc>
                <a:spcPts val="4071"/>
              </a:lnSpc>
            </a:pP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</a:t>
            </a: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 hoạt động:</a:t>
            </a:r>
          </a:p>
          <a:p>
            <a:pPr algn="l">
              <a:lnSpc>
                <a:spcPts val="4071"/>
              </a:lnSpc>
            </a:pP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Guest OS được "dạy" để nhận biết nó đang chạy trên một hypervisor và hoạt động ở PL2.</a:t>
            </a:r>
          </a:p>
          <a:p>
            <a:pPr algn="l" marL="496574" indent="-248287" lvl="1">
              <a:lnSpc>
                <a:spcPts val="4071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Thay</a:t>
            </a: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vì thực hiện lệnh đặc quyền (gây "trap"), Guest OS sẽ chủ động giao tiếp với hypervisor thông qua Hypercalls.</a:t>
            </a:r>
          </a:p>
          <a:p>
            <a:pPr algn="l">
              <a:lnSpc>
                <a:spcPts val="4071"/>
              </a:lnSpc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8374163" y="-23657"/>
            <a:ext cx="2684561" cy="2684561"/>
            <a:chOff x="0" y="0"/>
            <a:chExt cx="3579415" cy="357941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-10800000">
            <a:off x="15596457" y="7602439"/>
            <a:ext cx="2684561" cy="2684561"/>
            <a:chOff x="0" y="0"/>
            <a:chExt cx="3579415" cy="3579415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Freeform 42" id="42"/>
          <p:cNvSpPr/>
          <p:nvPr/>
        </p:nvSpPr>
        <p:spPr>
          <a:xfrm flipH="false" flipV="false" rot="0">
            <a:off x="3217981" y="2332059"/>
            <a:ext cx="11840102" cy="6612660"/>
          </a:xfrm>
          <a:custGeom>
            <a:avLst/>
            <a:gdLst/>
            <a:ahLst/>
            <a:cxnLst/>
            <a:rect r="r" b="b" t="t" l="l"/>
            <a:pathLst>
              <a:path h="6612660" w="11840102">
                <a:moveTo>
                  <a:pt x="0" y="0"/>
                </a:moveTo>
                <a:lnTo>
                  <a:pt x="11840103" y="0"/>
                </a:lnTo>
                <a:lnTo>
                  <a:pt x="11840103" y="6612660"/>
                </a:lnTo>
                <a:lnTo>
                  <a:pt x="0" y="66126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489" r="0" b="-8878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235196" y="1715474"/>
            <a:ext cx="15100720" cy="61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30"/>
              </a:lnSpc>
              <a:spcBef>
                <a:spcPct val="0"/>
              </a:spcBef>
            </a:pPr>
            <a:r>
              <a:rPr lang="en-US" sz="4300" spc="-43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SO SÁNH HIỆU NĂNG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377600" y="321611"/>
            <a:ext cx="2102569" cy="275311"/>
            <a:chOff x="0" y="0"/>
            <a:chExt cx="2803426" cy="367081"/>
          </a:xfrm>
        </p:grpSpPr>
        <p:sp>
          <p:nvSpPr>
            <p:cNvPr name="TextBox 45" id="45"/>
            <p:cNvSpPr txBox="true"/>
            <p:nvPr/>
          </p:nvSpPr>
          <p:spPr>
            <a:xfrm rot="0">
              <a:off x="0" y="19050"/>
              <a:ext cx="1508522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Arowwai 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1521222" y="89374"/>
              <a:ext cx="1282204" cy="27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929292"/>
                  </a:solidFill>
                  <a:latin typeface="Lovelo"/>
                  <a:ea typeface="Lovelo"/>
                  <a:cs typeface="Lovelo"/>
                  <a:sym typeface="Lovelo"/>
                </a:rPr>
                <a:t>Industries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377600" y="9739082"/>
            <a:ext cx="4562061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www.reallygreatsite.com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8374163" y="-23657"/>
            <a:ext cx="2684561" cy="2684561"/>
            <a:chOff x="0" y="0"/>
            <a:chExt cx="3579415" cy="357941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-10800000">
            <a:off x="15596457" y="7602439"/>
            <a:ext cx="2684561" cy="2684561"/>
            <a:chOff x="0" y="0"/>
            <a:chExt cx="3579415" cy="3579415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TextBox 42" id="42"/>
          <p:cNvSpPr txBox="true"/>
          <p:nvPr/>
        </p:nvSpPr>
        <p:spPr>
          <a:xfrm rot="0">
            <a:off x="1235196" y="1715474"/>
            <a:ext cx="15100720" cy="61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30"/>
              </a:lnSpc>
              <a:spcBef>
                <a:spcPct val="0"/>
              </a:spcBef>
            </a:pPr>
            <a:r>
              <a:rPr lang="en-US" sz="4300" spc="-43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SO SÁNH HIỆU NĂNG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377600" y="321611"/>
            <a:ext cx="2102569" cy="275311"/>
            <a:chOff x="0" y="0"/>
            <a:chExt cx="2803426" cy="367081"/>
          </a:xfrm>
        </p:grpSpPr>
        <p:sp>
          <p:nvSpPr>
            <p:cNvPr name="TextBox 44" id="44"/>
            <p:cNvSpPr txBox="true"/>
            <p:nvPr/>
          </p:nvSpPr>
          <p:spPr>
            <a:xfrm rot="0">
              <a:off x="0" y="19050"/>
              <a:ext cx="1508522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Arowwai 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1521222" y="89374"/>
              <a:ext cx="1282204" cy="27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929292"/>
                  </a:solidFill>
                  <a:latin typeface="Lovelo"/>
                  <a:ea typeface="Lovelo"/>
                  <a:cs typeface="Lovelo"/>
                  <a:sym typeface="Lovelo"/>
                </a:rPr>
                <a:t>Industries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377600" y="9739082"/>
            <a:ext cx="4562061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www.reallygreatsite.com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74390" y="2508504"/>
            <a:ext cx="13799546" cy="2725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3" indent="-259082" lvl="1">
              <a:lnSpc>
                <a:spcPts val="436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Mục 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iêu Thí nghiệm:</a:t>
            </a:r>
          </a:p>
          <a:p>
            <a:pPr algn="l" marL="1036326" indent="-345442" lvl="2">
              <a:lnSpc>
                <a:spcPts val="4368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 sánh hiệu năng của Linux gốc, OpenVZ (Containers) và Xen (Hypervisor) khi chạy ứng dụng Web-Database.</a:t>
            </a:r>
          </a:p>
          <a:p>
            <a:pPr algn="l" marL="1036326" indent="-345442" lvl="2">
              <a:lnSpc>
                <a:spcPts val="4368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Câu hỏi: Công nghệ ảo hóa nào hiệu quả hơn và chi phí là gì?</a:t>
            </a:r>
          </a:p>
          <a:p>
            <a:pPr algn="l">
              <a:lnSpc>
                <a:spcPts val="4368"/>
              </a:lnSpc>
            </a:pP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8374163" y="-23657"/>
            <a:ext cx="2684561" cy="2684561"/>
            <a:chOff x="0" y="0"/>
            <a:chExt cx="3579415" cy="357941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-10800000">
            <a:off x="15596457" y="7602439"/>
            <a:ext cx="2684561" cy="2684561"/>
            <a:chOff x="0" y="0"/>
            <a:chExt cx="3579415" cy="3579415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TextBox 42" id="42"/>
          <p:cNvSpPr txBox="true"/>
          <p:nvPr/>
        </p:nvSpPr>
        <p:spPr>
          <a:xfrm rot="0">
            <a:off x="1235196" y="1715474"/>
            <a:ext cx="15100720" cy="61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30"/>
              </a:lnSpc>
              <a:spcBef>
                <a:spcPct val="0"/>
              </a:spcBef>
            </a:pPr>
            <a:r>
              <a:rPr lang="en-US" sz="4300" spc="-43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SO SÁNH HIỆU NĂNG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377600" y="321611"/>
            <a:ext cx="2102569" cy="275311"/>
            <a:chOff x="0" y="0"/>
            <a:chExt cx="2803426" cy="367081"/>
          </a:xfrm>
        </p:grpSpPr>
        <p:sp>
          <p:nvSpPr>
            <p:cNvPr name="TextBox 44" id="44"/>
            <p:cNvSpPr txBox="true"/>
            <p:nvPr/>
          </p:nvSpPr>
          <p:spPr>
            <a:xfrm rot="0">
              <a:off x="0" y="19050"/>
              <a:ext cx="1508522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Arowwai 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1521222" y="89374"/>
              <a:ext cx="1282204" cy="27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929292"/>
                  </a:solidFill>
                  <a:latin typeface="Lovelo"/>
                  <a:ea typeface="Lovelo"/>
                  <a:cs typeface="Lovelo"/>
                  <a:sym typeface="Lovelo"/>
                </a:rPr>
                <a:t>Industries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377600" y="9739082"/>
            <a:ext cx="4562061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www.reallygreatsite.com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74390" y="2508504"/>
            <a:ext cx="13799546" cy="4383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8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Thời g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ian Phản hồi (Response Time) - Chỉ số quan trọng nhất:</a:t>
            </a:r>
          </a:p>
          <a:p>
            <a:pPr algn="l" marL="518163" indent="-259082" lvl="1">
              <a:lnSpc>
                <a:spcPts val="436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Linux &amp; OpenVZ: Tăng nhẹ, rất ổn định.</a:t>
            </a:r>
          </a:p>
          <a:p>
            <a:pPr algn="l" marL="518163" indent="-259082" lvl="1">
              <a:lnSpc>
                <a:spcPts val="436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Xen: Tăng vọt 600%! Chậm hơn OpenVZ gấp 4 lần.</a:t>
            </a:r>
          </a:p>
          <a:p>
            <a:pPr algn="l">
              <a:lnSpc>
                <a:spcPts val="4368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Mức tiêu thụ CPU (Web Server):</a:t>
            </a:r>
          </a:p>
          <a:p>
            <a:pPr algn="l" marL="518163" indent="-259082" lvl="1">
              <a:lnSpc>
                <a:spcPts val="436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OpenVZ: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Gần bằng Linux gốc (rất hiệu quả).</a:t>
            </a:r>
          </a:p>
          <a:p>
            <a:pPr algn="l" marL="518163" indent="-259082" lvl="1">
              <a:lnSpc>
                <a:spcPts val="436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Xen: Tiêu thụ CPU nhiều gần gấp đôi OpenVZ.</a:t>
            </a:r>
          </a:p>
          <a:p>
            <a:pPr algn="l">
              <a:lnSpc>
                <a:spcPts val="4368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=&gt; Kết luận sơ bộ: OpenVZ vượt trội hơn hẳn Xen về mặt hiệu năng.</a:t>
            </a:r>
          </a:p>
          <a:p>
            <a:pPr algn="l">
              <a:lnSpc>
                <a:spcPts val="4368"/>
              </a:lnSpc>
            </a:pP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8374163" y="-23657"/>
            <a:ext cx="2684561" cy="2684561"/>
            <a:chOff x="0" y="0"/>
            <a:chExt cx="3579415" cy="357941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-10800000">
            <a:off x="15596457" y="7602439"/>
            <a:ext cx="2684561" cy="2684561"/>
            <a:chOff x="0" y="0"/>
            <a:chExt cx="3579415" cy="3579415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TextBox 42" id="42"/>
          <p:cNvSpPr txBox="true"/>
          <p:nvPr/>
        </p:nvSpPr>
        <p:spPr>
          <a:xfrm rot="0">
            <a:off x="1235196" y="1715474"/>
            <a:ext cx="15100720" cy="61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30"/>
              </a:lnSpc>
              <a:spcBef>
                <a:spcPct val="0"/>
              </a:spcBef>
            </a:pPr>
            <a:r>
              <a:rPr lang="en-US" sz="4300" spc="-43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SO SÁNH HIỆU NĂNG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377600" y="321611"/>
            <a:ext cx="2102569" cy="275311"/>
            <a:chOff x="0" y="0"/>
            <a:chExt cx="2803426" cy="367081"/>
          </a:xfrm>
        </p:grpSpPr>
        <p:sp>
          <p:nvSpPr>
            <p:cNvPr name="TextBox 44" id="44"/>
            <p:cNvSpPr txBox="true"/>
            <p:nvPr/>
          </p:nvSpPr>
          <p:spPr>
            <a:xfrm rot="0">
              <a:off x="0" y="19050"/>
              <a:ext cx="1508522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Arowwai 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1521222" y="89374"/>
              <a:ext cx="1282204" cy="27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929292"/>
                  </a:solidFill>
                  <a:latin typeface="Lovelo"/>
                  <a:ea typeface="Lovelo"/>
                  <a:cs typeface="Lovelo"/>
                  <a:sym typeface="Lovelo"/>
                </a:rPr>
                <a:t>Industries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377600" y="9739082"/>
            <a:ext cx="4562061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www.reallygreatsite.com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74390" y="2508504"/>
            <a:ext cx="15191081" cy="6040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8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"H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ung thủ" chính: Lỗi Bộ nhớ đệm L2 (L2 Cache Miss)</a:t>
            </a:r>
          </a:p>
          <a:p>
            <a:pPr algn="l" marL="518163" indent="-259082" lvl="1">
              <a:lnSpc>
                <a:spcPts val="436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Hệ thống Xen gây ra lỗi cache miss cao gấp 9 lần so với Linux gốc (trong khi OpenVZ chỉ cao gấp 2 lần).</a:t>
            </a:r>
          </a:p>
          <a:p>
            <a:pPr algn="l" marL="518163" indent="-259082" lvl="1">
              <a:lnSpc>
                <a:spcPts val="436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Lỗi cache miss cao buộc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CPU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phải liên tục chờ đợi RAM, làm giảm hiệu năng nghiêm trọng.</a:t>
            </a:r>
          </a:p>
          <a:p>
            <a:pPr algn="l">
              <a:lnSpc>
                <a:spcPts val="4368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Nguồn gốc Lỗi Cache Miss 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rong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Xen:</a:t>
            </a:r>
          </a:p>
          <a:p>
            <a:pPr algn="l" marL="518163" indent="-259082" lvl="1">
              <a:lnSpc>
                <a:spcPts val="436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76% số lỗi đến từ chi phí giao tiếp giữa Máy ảo (VM) và Hypervisor.</a:t>
            </a:r>
          </a:p>
          <a:p>
            <a:pPr algn="l" marL="518163" indent="-259082" lvl="1">
              <a:lnSpc>
                <a:spcPts val="436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Các hàm đặc thù của Xen (hypervisor_callback, evtchn_do_upcall) liên tục làm "ô nhiễm" bộ nhớ đệm.</a:t>
            </a:r>
          </a:p>
          <a:p>
            <a:pPr algn="l">
              <a:lnSpc>
                <a:spcPts val="4368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Kết luận &amp; Bài học:</a:t>
            </a:r>
          </a:p>
          <a:p>
            <a:pPr algn="l" marL="518163" indent="-259082" lvl="1">
              <a:lnSpc>
                <a:spcPts val="436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head giao tiếp là "sát thủ thầm lặng" của hiệu năng trong Xen.</a:t>
            </a:r>
          </a:p>
          <a:p>
            <a:pPr algn="l" marL="518163" indent="-259082" lvl="1">
              <a:lnSpc>
                <a:spcPts val="436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ới các ứng dụng nhạy cảm về độ trễ, Containers hiệu quả hơn Hypervisor do không có lớp giao tiếp phức tạp này.</a:t>
            </a:r>
          </a:p>
          <a:p>
            <a:pPr algn="l">
              <a:lnSpc>
                <a:spcPts val="4368"/>
              </a:lnSpc>
            </a:pP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8374163" y="-23657"/>
            <a:ext cx="2684561" cy="2684561"/>
            <a:chOff x="0" y="0"/>
            <a:chExt cx="3579415" cy="357941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-10800000">
            <a:off x="15596457" y="7602439"/>
            <a:ext cx="2684561" cy="2684561"/>
            <a:chOff x="0" y="0"/>
            <a:chExt cx="3579415" cy="3579415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TextBox 42" id="42"/>
          <p:cNvSpPr txBox="true"/>
          <p:nvPr/>
        </p:nvSpPr>
        <p:spPr>
          <a:xfrm rot="0">
            <a:off x="1235196" y="1715474"/>
            <a:ext cx="15100720" cy="61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30"/>
              </a:lnSpc>
              <a:spcBef>
                <a:spcPct val="0"/>
              </a:spcBef>
            </a:pPr>
            <a:r>
              <a:rPr lang="en-US" sz="4300" spc="-43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MẶT TỐI CỦA ẢO HÓA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377600" y="321611"/>
            <a:ext cx="2102569" cy="275311"/>
            <a:chOff x="0" y="0"/>
            <a:chExt cx="2803426" cy="367081"/>
          </a:xfrm>
        </p:grpSpPr>
        <p:sp>
          <p:nvSpPr>
            <p:cNvPr name="TextBox 44" id="44"/>
            <p:cNvSpPr txBox="true"/>
            <p:nvPr/>
          </p:nvSpPr>
          <p:spPr>
            <a:xfrm rot="0">
              <a:off x="0" y="19050"/>
              <a:ext cx="1508522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Arowwai 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1521222" y="89374"/>
              <a:ext cx="1282204" cy="27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929292"/>
                  </a:solidFill>
                  <a:latin typeface="Lovelo"/>
                  <a:ea typeface="Lovelo"/>
                  <a:cs typeface="Lovelo"/>
                  <a:sym typeface="Lovelo"/>
                </a:rPr>
                <a:t>Industries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377600" y="9739082"/>
            <a:ext cx="4562061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www.reallygreatsite.com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74390" y="2508504"/>
            <a:ext cx="15191081" cy="6040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3" indent="-259082" lvl="1">
              <a:lnSpc>
                <a:spcPts val="436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"Mặt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tối của Ảo hóa": Lợi dụng công nghệ ảo hóa để tạo ra Rootkit dựa trên Máy ảo (VMBR) - một loại malware "tàng hình" và toàn năng.</a:t>
            </a:r>
          </a:p>
          <a:p>
            <a:pPr algn="l" marL="518163" indent="-259082" lvl="1">
              <a:lnSpc>
                <a:spcPts val="436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Nguyên tắc tấ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cô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ng:</a:t>
            </a:r>
          </a:p>
          <a:p>
            <a:pPr algn="l" marL="1036326" indent="-345442" lvl="2">
              <a:lnSpc>
                <a:spcPts val="4368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VMBR hoạt động như một "Hypervisor giả mạo" (Rogue Hypervisor).</a:t>
            </a:r>
          </a:p>
          <a:p>
            <a:pPr algn="l" marL="1036326" indent="-345442" lvl="2">
              <a:lnSpc>
                <a:spcPts val="4368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Nó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chèn chính nó vào lớp THẤP NHẤT, nằm giữa Phần cứng và Hệ điều hành (hoặc thậm chí bên dưới cả Hypervisor hợp pháp).</a:t>
            </a:r>
          </a:p>
          <a:p>
            <a:pPr algn="l" marL="518163" indent="-259082" lvl="1">
              <a:lnSpc>
                <a:spcPts val="436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Mánh khóe:</a:t>
            </a:r>
          </a:p>
          <a:p>
            <a:pPr algn="l" marL="1036326" indent="-345442" lvl="2">
              <a:lnSpc>
                <a:spcPts val="4368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Hệ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điều hành / Hyp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erv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isor hợp pháp bị "đánh lừa", chúng chạy như một máy ảo bên trên VMBR mà không hề hay biết.</a:t>
            </a:r>
          </a:p>
          <a:p>
            <a:pPr algn="l" marL="1036326" indent="-345442" lvl="2">
              <a:lnSpc>
                <a:spcPts val="4368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Kết quả: VMBR giành quyền kiểm soát tuyệt đối toàn bộ hệ thống.</a:t>
            </a:r>
          </a:p>
          <a:p>
            <a:pPr algn="l">
              <a:lnSpc>
                <a:spcPts val="4368"/>
              </a:lnSpc>
            </a:pP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769" y="-4125826"/>
            <a:ext cx="13560749" cy="14830672"/>
            <a:chOff x="0" y="0"/>
            <a:chExt cx="891155" cy="9746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91155" cy="974609"/>
            </a:xfrm>
            <a:custGeom>
              <a:avLst/>
              <a:gdLst/>
              <a:ahLst/>
              <a:cxnLst/>
              <a:rect r="r" b="b" t="t" l="l"/>
              <a:pathLst>
                <a:path h="974609" w="891155">
                  <a:moveTo>
                    <a:pt x="445578" y="0"/>
                  </a:moveTo>
                  <a:cubicBezTo>
                    <a:pt x="199492" y="0"/>
                    <a:pt x="0" y="218174"/>
                    <a:pt x="0" y="487305"/>
                  </a:cubicBezTo>
                  <a:cubicBezTo>
                    <a:pt x="0" y="756436"/>
                    <a:pt x="199492" y="974609"/>
                    <a:pt x="445578" y="974609"/>
                  </a:cubicBezTo>
                  <a:cubicBezTo>
                    <a:pt x="691663" y="974609"/>
                    <a:pt x="891155" y="756436"/>
                    <a:pt x="891155" y="487305"/>
                  </a:cubicBezTo>
                  <a:cubicBezTo>
                    <a:pt x="891155" y="218174"/>
                    <a:pt x="691663" y="0"/>
                    <a:pt x="44557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A6A6A6"/>
              </a:solidFill>
              <a:prstDash val="sysDot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83546" y="43745"/>
              <a:ext cx="724064" cy="839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874179" y="2452711"/>
            <a:ext cx="363624" cy="363624"/>
            <a:chOff x="0" y="0"/>
            <a:chExt cx="484832" cy="48483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484832" cy="484832"/>
              <a:chOff x="0" y="0"/>
              <a:chExt cx="813004" cy="81300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3004" cy="813004"/>
              </a:xfrm>
              <a:custGeom>
                <a:avLst/>
                <a:gdLst/>
                <a:ahLst/>
                <a:cxnLst/>
                <a:rect r="r" b="b" t="t" l="l"/>
                <a:pathLst>
                  <a:path h="813004" w="813004">
                    <a:moveTo>
                      <a:pt x="406502" y="0"/>
                    </a:moveTo>
                    <a:cubicBezTo>
                      <a:pt x="181997" y="0"/>
                      <a:pt x="0" y="181997"/>
                      <a:pt x="0" y="406502"/>
                    </a:cubicBezTo>
                    <a:cubicBezTo>
                      <a:pt x="0" y="631007"/>
                      <a:pt x="181997" y="813004"/>
                      <a:pt x="406502" y="813004"/>
                    </a:cubicBezTo>
                    <a:cubicBezTo>
                      <a:pt x="631007" y="813004"/>
                      <a:pt x="813004" y="631007"/>
                      <a:pt x="813004" y="406502"/>
                    </a:cubicBezTo>
                    <a:cubicBezTo>
                      <a:pt x="813004" y="181997"/>
                      <a:pt x="631007" y="0"/>
                      <a:pt x="406502" y="0"/>
                    </a:cubicBezTo>
                    <a:close/>
                  </a:path>
                </a:pathLst>
              </a:custGeom>
              <a:solidFill>
                <a:srgbClr val="EEEEEF"/>
              </a:solidFill>
              <a:ln w="19050" cap="sq">
                <a:solidFill>
                  <a:srgbClr val="A6A6A6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19" y="28594"/>
                <a:ext cx="660566" cy="708191"/>
              </a:xfrm>
              <a:prstGeom prst="rect">
                <a:avLst/>
              </a:prstGeom>
            </p:spPr>
            <p:txBody>
              <a:bodyPr anchor="ctr" rtlCol="false" tIns="43309" lIns="43309" bIns="43309" rIns="43309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56447" y="51316"/>
              <a:ext cx="371937" cy="382200"/>
              <a:chOff x="0" y="0"/>
              <a:chExt cx="796469" cy="81844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96469" cy="818446"/>
              </a:xfrm>
              <a:custGeom>
                <a:avLst/>
                <a:gdLst/>
                <a:ahLst/>
                <a:cxnLst/>
                <a:rect r="r" b="b" t="t" l="l"/>
                <a:pathLst>
                  <a:path h="818446" w="796469">
                    <a:moveTo>
                      <a:pt x="398235" y="0"/>
                    </a:moveTo>
                    <a:cubicBezTo>
                      <a:pt x="178296" y="0"/>
                      <a:pt x="0" y="183215"/>
                      <a:pt x="0" y="409223"/>
                    </a:cubicBezTo>
                    <a:cubicBezTo>
                      <a:pt x="0" y="635231"/>
                      <a:pt x="178296" y="818446"/>
                      <a:pt x="398235" y="818446"/>
                    </a:cubicBezTo>
                    <a:cubicBezTo>
                      <a:pt x="618174" y="818446"/>
                      <a:pt x="796469" y="635231"/>
                      <a:pt x="796469" y="409223"/>
                    </a:cubicBezTo>
                    <a:cubicBezTo>
                      <a:pt x="796469" y="183215"/>
                      <a:pt x="618174" y="0"/>
                      <a:pt x="398235" y="0"/>
                    </a:cubicBezTo>
                    <a:close/>
                  </a:path>
                </a:pathLst>
              </a:custGeom>
              <a:solidFill>
                <a:srgbClr val="EEEEEF"/>
              </a:solidFill>
              <a:ln w="19050" cap="sq">
                <a:solidFill>
                  <a:srgbClr val="A6A6A6"/>
                </a:solidFill>
                <a:prstDash val="sysDot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4669" y="29104"/>
                <a:ext cx="647131" cy="712613"/>
              </a:xfrm>
              <a:prstGeom prst="rect">
                <a:avLst/>
              </a:prstGeom>
            </p:spPr>
            <p:txBody>
              <a:bodyPr anchor="ctr" rtlCol="false" tIns="43309" lIns="43309" bIns="43309" rIns="43309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AutoShape 12" id="12"/>
          <p:cNvSpPr/>
          <p:nvPr/>
        </p:nvSpPr>
        <p:spPr>
          <a:xfrm flipH="true">
            <a:off x="778038" y="4940163"/>
            <a:ext cx="8277954" cy="6371679"/>
          </a:xfrm>
          <a:prstGeom prst="line">
            <a:avLst/>
          </a:prstGeom>
          <a:ln cap="flat" w="19050">
            <a:gradFill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8874179" y="4576539"/>
            <a:ext cx="363624" cy="363624"/>
            <a:chOff x="0" y="0"/>
            <a:chExt cx="484832" cy="484832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484832" cy="484832"/>
              <a:chOff x="0" y="0"/>
              <a:chExt cx="813004" cy="81300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3004" cy="813004"/>
              </a:xfrm>
              <a:custGeom>
                <a:avLst/>
                <a:gdLst/>
                <a:ahLst/>
                <a:cxnLst/>
                <a:rect r="r" b="b" t="t" l="l"/>
                <a:pathLst>
                  <a:path h="813004" w="813004">
                    <a:moveTo>
                      <a:pt x="406502" y="0"/>
                    </a:moveTo>
                    <a:cubicBezTo>
                      <a:pt x="181997" y="0"/>
                      <a:pt x="0" y="181997"/>
                      <a:pt x="0" y="406502"/>
                    </a:cubicBezTo>
                    <a:cubicBezTo>
                      <a:pt x="0" y="631007"/>
                      <a:pt x="181997" y="813004"/>
                      <a:pt x="406502" y="813004"/>
                    </a:cubicBezTo>
                    <a:cubicBezTo>
                      <a:pt x="631007" y="813004"/>
                      <a:pt x="813004" y="631007"/>
                      <a:pt x="813004" y="406502"/>
                    </a:cubicBezTo>
                    <a:cubicBezTo>
                      <a:pt x="813004" y="181997"/>
                      <a:pt x="631007" y="0"/>
                      <a:pt x="406502" y="0"/>
                    </a:cubicBezTo>
                    <a:close/>
                  </a:path>
                </a:pathLst>
              </a:custGeom>
              <a:solidFill>
                <a:srgbClr val="EEEEEF"/>
              </a:solidFill>
              <a:ln w="19050" cap="sq">
                <a:solidFill>
                  <a:srgbClr val="A6A6A6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19" y="28594"/>
                <a:ext cx="660566" cy="708191"/>
              </a:xfrm>
              <a:prstGeom prst="rect">
                <a:avLst/>
              </a:prstGeom>
            </p:spPr>
            <p:txBody>
              <a:bodyPr anchor="ctr" rtlCol="false" tIns="43309" lIns="43309" bIns="43309" rIns="43309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56447" y="51316"/>
              <a:ext cx="371937" cy="382200"/>
              <a:chOff x="0" y="0"/>
              <a:chExt cx="796469" cy="81844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96469" cy="818446"/>
              </a:xfrm>
              <a:custGeom>
                <a:avLst/>
                <a:gdLst/>
                <a:ahLst/>
                <a:cxnLst/>
                <a:rect r="r" b="b" t="t" l="l"/>
                <a:pathLst>
                  <a:path h="818446" w="796469">
                    <a:moveTo>
                      <a:pt x="398235" y="0"/>
                    </a:moveTo>
                    <a:cubicBezTo>
                      <a:pt x="178296" y="0"/>
                      <a:pt x="0" y="183215"/>
                      <a:pt x="0" y="409223"/>
                    </a:cubicBezTo>
                    <a:cubicBezTo>
                      <a:pt x="0" y="635231"/>
                      <a:pt x="178296" y="818446"/>
                      <a:pt x="398235" y="818446"/>
                    </a:cubicBezTo>
                    <a:cubicBezTo>
                      <a:pt x="618174" y="818446"/>
                      <a:pt x="796469" y="635231"/>
                      <a:pt x="796469" y="409223"/>
                    </a:cubicBezTo>
                    <a:cubicBezTo>
                      <a:pt x="796469" y="183215"/>
                      <a:pt x="618174" y="0"/>
                      <a:pt x="398235" y="0"/>
                    </a:cubicBezTo>
                    <a:close/>
                  </a:path>
                </a:pathLst>
              </a:custGeom>
              <a:solidFill>
                <a:srgbClr val="EEEEEF"/>
              </a:solidFill>
              <a:ln w="19050" cap="sq">
                <a:solidFill>
                  <a:srgbClr val="A6A6A6"/>
                </a:solidFill>
                <a:prstDash val="sysDot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4669" y="29104"/>
                <a:ext cx="647131" cy="712613"/>
              </a:xfrm>
              <a:prstGeom prst="rect">
                <a:avLst/>
              </a:prstGeom>
            </p:spPr>
            <p:txBody>
              <a:bodyPr anchor="ctr" rtlCol="false" tIns="43309" lIns="43309" bIns="43309" rIns="43309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20" id="20"/>
          <p:cNvGrpSpPr/>
          <p:nvPr/>
        </p:nvGrpSpPr>
        <p:grpSpPr>
          <a:xfrm rot="0">
            <a:off x="8874179" y="6346267"/>
            <a:ext cx="363624" cy="363624"/>
            <a:chOff x="0" y="0"/>
            <a:chExt cx="484832" cy="484832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484832" cy="484832"/>
              <a:chOff x="0" y="0"/>
              <a:chExt cx="813004" cy="81300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3004" cy="813004"/>
              </a:xfrm>
              <a:custGeom>
                <a:avLst/>
                <a:gdLst/>
                <a:ahLst/>
                <a:cxnLst/>
                <a:rect r="r" b="b" t="t" l="l"/>
                <a:pathLst>
                  <a:path h="813004" w="813004">
                    <a:moveTo>
                      <a:pt x="406502" y="0"/>
                    </a:moveTo>
                    <a:cubicBezTo>
                      <a:pt x="181997" y="0"/>
                      <a:pt x="0" y="181997"/>
                      <a:pt x="0" y="406502"/>
                    </a:cubicBezTo>
                    <a:cubicBezTo>
                      <a:pt x="0" y="631007"/>
                      <a:pt x="181997" y="813004"/>
                      <a:pt x="406502" y="813004"/>
                    </a:cubicBezTo>
                    <a:cubicBezTo>
                      <a:pt x="631007" y="813004"/>
                      <a:pt x="813004" y="631007"/>
                      <a:pt x="813004" y="406502"/>
                    </a:cubicBezTo>
                    <a:cubicBezTo>
                      <a:pt x="813004" y="181997"/>
                      <a:pt x="631007" y="0"/>
                      <a:pt x="406502" y="0"/>
                    </a:cubicBezTo>
                    <a:close/>
                  </a:path>
                </a:pathLst>
              </a:custGeom>
              <a:solidFill>
                <a:srgbClr val="EEEEEF"/>
              </a:solidFill>
              <a:ln w="19050" cap="sq">
                <a:solidFill>
                  <a:srgbClr val="A6A6A6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19" y="28594"/>
                <a:ext cx="660566" cy="708191"/>
              </a:xfrm>
              <a:prstGeom prst="rect">
                <a:avLst/>
              </a:prstGeom>
            </p:spPr>
            <p:txBody>
              <a:bodyPr anchor="ctr" rtlCol="false" tIns="43309" lIns="43309" bIns="43309" rIns="43309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56447" y="51316"/>
              <a:ext cx="371937" cy="382200"/>
              <a:chOff x="0" y="0"/>
              <a:chExt cx="796469" cy="818446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796469" cy="818446"/>
              </a:xfrm>
              <a:custGeom>
                <a:avLst/>
                <a:gdLst/>
                <a:ahLst/>
                <a:cxnLst/>
                <a:rect r="r" b="b" t="t" l="l"/>
                <a:pathLst>
                  <a:path h="818446" w="796469">
                    <a:moveTo>
                      <a:pt x="398235" y="0"/>
                    </a:moveTo>
                    <a:cubicBezTo>
                      <a:pt x="178296" y="0"/>
                      <a:pt x="0" y="183215"/>
                      <a:pt x="0" y="409223"/>
                    </a:cubicBezTo>
                    <a:cubicBezTo>
                      <a:pt x="0" y="635231"/>
                      <a:pt x="178296" y="818446"/>
                      <a:pt x="398235" y="818446"/>
                    </a:cubicBezTo>
                    <a:cubicBezTo>
                      <a:pt x="618174" y="818446"/>
                      <a:pt x="796469" y="635231"/>
                      <a:pt x="796469" y="409223"/>
                    </a:cubicBezTo>
                    <a:cubicBezTo>
                      <a:pt x="796469" y="183215"/>
                      <a:pt x="618174" y="0"/>
                      <a:pt x="398235" y="0"/>
                    </a:cubicBezTo>
                    <a:close/>
                  </a:path>
                </a:pathLst>
              </a:custGeom>
              <a:solidFill>
                <a:srgbClr val="EEEEEF"/>
              </a:solidFill>
              <a:ln w="19050" cap="sq">
                <a:solidFill>
                  <a:srgbClr val="A6A6A6"/>
                </a:solidFill>
                <a:prstDash val="sysDot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4669" y="29104"/>
                <a:ext cx="647131" cy="712613"/>
              </a:xfrm>
              <a:prstGeom prst="rect">
                <a:avLst/>
              </a:prstGeom>
            </p:spPr>
            <p:txBody>
              <a:bodyPr anchor="ctr" rtlCol="false" tIns="43309" lIns="43309" bIns="43309" rIns="43309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TextBox 27" id="27"/>
          <p:cNvSpPr txBox="true"/>
          <p:nvPr/>
        </p:nvSpPr>
        <p:spPr>
          <a:xfrm rot="0">
            <a:off x="9420818" y="1608105"/>
            <a:ext cx="7838482" cy="6788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5095" indent="-297548" lvl="1">
              <a:lnSpc>
                <a:spcPts val="4906"/>
              </a:lnSpc>
              <a:buFont typeface="Arial"/>
              <a:buChar char="•"/>
            </a:pP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Ảo hóa lồng nhau xếp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chồng hypervisor; L0 kiểm soát tuyệt đối qua "Bẫy &amp; Mô phỏng".</a:t>
            </a:r>
          </a:p>
          <a:p>
            <a:pPr algn="l" marL="595095" indent="-297548" lvl="1">
              <a:lnSpc>
                <a:spcPts val="4906"/>
              </a:lnSpc>
              <a:buFont typeface="Arial"/>
              <a:buChar char="•"/>
            </a:pP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Hiệu năng: Containers thắng thế do chi phí giao tiếp của Hypervisor gây lỗi L2 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Miss.</a:t>
            </a:r>
          </a:p>
          <a:p>
            <a:pPr algn="l" marL="595095" indent="-297548" lvl="1">
              <a:lnSpc>
                <a:spcPts val="4906"/>
              </a:lnSpc>
              <a:buFont typeface="Arial"/>
              <a:buChar char="•"/>
            </a:pP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Kiến trúc Itanium "rò rỉ đặc quyền", p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á vỡ 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ảo hóa toàn phần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và buộc dùng Bá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ảo hóa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l" marL="595095" indent="-297548" lvl="1">
              <a:lnSpc>
                <a:spcPts val="4906"/>
              </a:lnSpc>
              <a:buFont typeface="Arial"/>
              <a:buChar char="•"/>
            </a:pP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Mặt tối: VMBR lạm dụng ảo hóa, trở thành hypervisor độc hại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àng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ì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 sau khi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hiếm quyề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Admin.</a:t>
            </a:r>
          </a:p>
          <a:p>
            <a:pPr algn="l">
              <a:lnSpc>
                <a:spcPts val="4906"/>
              </a:lnSpc>
            </a:pPr>
          </a:p>
        </p:txBody>
      </p:sp>
      <p:sp>
        <p:nvSpPr>
          <p:cNvPr name="AutoShape 28" id="28"/>
          <p:cNvSpPr/>
          <p:nvPr/>
        </p:nvSpPr>
        <p:spPr>
          <a:xfrm flipH="true">
            <a:off x="778038" y="6709891"/>
            <a:ext cx="8277954" cy="4601951"/>
          </a:xfrm>
          <a:prstGeom prst="line">
            <a:avLst/>
          </a:prstGeom>
          <a:ln cap="flat" w="19050">
            <a:gradFill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H="true">
            <a:off x="778038" y="2816335"/>
            <a:ext cx="8277954" cy="8495507"/>
          </a:xfrm>
          <a:prstGeom prst="line">
            <a:avLst/>
          </a:prstGeom>
          <a:ln cap="flat" w="19050">
            <a:gradFill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2898522" y="2873485"/>
            <a:ext cx="3792722" cy="1596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9"/>
              </a:lnSpc>
            </a:pPr>
            <a:r>
              <a:rPr lang="en-US" sz="5699" spc="-56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Tổng kết</a:t>
            </a:r>
          </a:p>
          <a:p>
            <a:pPr algn="l" marL="0" indent="0" lvl="0">
              <a:lnSpc>
                <a:spcPts val="6269"/>
              </a:lnSpc>
              <a:spcBef>
                <a:spcPct val="0"/>
              </a:spcBef>
            </a:pPr>
          </a:p>
        </p:txBody>
      </p:sp>
      <p:grpSp>
        <p:nvGrpSpPr>
          <p:cNvPr name="Group 31" id="31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41" id="41"/>
          <p:cNvGrpSpPr/>
          <p:nvPr/>
        </p:nvGrpSpPr>
        <p:grpSpPr>
          <a:xfrm rot="5400000">
            <a:off x="16185093" y="860230"/>
            <a:ext cx="1857699" cy="1857699"/>
            <a:chOff x="0" y="0"/>
            <a:chExt cx="2476932" cy="2476932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51" id="51"/>
          <p:cNvGrpSpPr/>
          <p:nvPr/>
        </p:nvGrpSpPr>
        <p:grpSpPr>
          <a:xfrm rot="0">
            <a:off x="15939886" y="7255244"/>
            <a:ext cx="2348114" cy="3522171"/>
            <a:chOff x="0" y="0"/>
            <a:chExt cx="3130819" cy="4696228"/>
          </a:xfrm>
        </p:grpSpPr>
        <p:grpSp>
          <p:nvGrpSpPr>
            <p:cNvPr name="Group 52" id="52"/>
            <p:cNvGrpSpPr/>
            <p:nvPr/>
          </p:nvGrpSpPr>
          <p:grpSpPr>
            <a:xfrm rot="5400000">
              <a:off x="0" y="0"/>
              <a:ext cx="1565409" cy="1565409"/>
              <a:chOff x="0" y="0"/>
              <a:chExt cx="812800" cy="8128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82723" lIns="82723" bIns="82723" rIns="82723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5400000">
              <a:off x="1565409" y="1565409"/>
              <a:ext cx="1565409" cy="1565409"/>
              <a:chOff x="0" y="0"/>
              <a:chExt cx="812800" cy="8128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82723" lIns="82723" bIns="82723" rIns="82723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5400000">
              <a:off x="0" y="3130819"/>
              <a:ext cx="1565409" cy="1565409"/>
              <a:chOff x="0" y="0"/>
              <a:chExt cx="812800" cy="812800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82723" lIns="82723" bIns="82723" rIns="82723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61" id="61"/>
          <p:cNvGrpSpPr/>
          <p:nvPr/>
        </p:nvGrpSpPr>
        <p:grpSpPr>
          <a:xfrm rot="5400000">
            <a:off x="4352632" y="1202051"/>
            <a:ext cx="1174057" cy="1174057"/>
            <a:chOff x="0" y="0"/>
            <a:chExt cx="812800" cy="8128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E1E2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104561" lIns="104561" bIns="104561" rIns="104561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5400000">
            <a:off x="2102907" y="7255244"/>
            <a:ext cx="1174057" cy="1174057"/>
            <a:chOff x="0" y="0"/>
            <a:chExt cx="812800" cy="812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BEBEC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104561" lIns="104561" bIns="104561" rIns="104561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5400000">
            <a:off x="5517186" y="1202051"/>
            <a:ext cx="1174057" cy="1174057"/>
            <a:chOff x="0" y="0"/>
            <a:chExt cx="812800" cy="8128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AEB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104561" lIns="104561" bIns="104561" rIns="104561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5400000">
            <a:off x="928850" y="7255244"/>
            <a:ext cx="1174057" cy="1174057"/>
            <a:chOff x="0" y="0"/>
            <a:chExt cx="812800" cy="8128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BEBEC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104561" lIns="104561" bIns="104561" rIns="104561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377600" y="321611"/>
            <a:ext cx="2102569" cy="275311"/>
            <a:chOff x="0" y="0"/>
            <a:chExt cx="2803426" cy="367081"/>
          </a:xfrm>
        </p:grpSpPr>
        <p:sp>
          <p:nvSpPr>
            <p:cNvPr name="TextBox 74" id="74"/>
            <p:cNvSpPr txBox="true"/>
            <p:nvPr/>
          </p:nvSpPr>
          <p:spPr>
            <a:xfrm rot="0">
              <a:off x="0" y="19050"/>
              <a:ext cx="1508522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Arowwai </a:t>
              </a:r>
            </a:p>
          </p:txBody>
        </p:sp>
        <p:sp>
          <p:nvSpPr>
            <p:cNvPr name="TextBox 75" id="75"/>
            <p:cNvSpPr txBox="true"/>
            <p:nvPr/>
          </p:nvSpPr>
          <p:spPr>
            <a:xfrm rot="0">
              <a:off x="1521222" y="89374"/>
              <a:ext cx="1282204" cy="27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929292"/>
                  </a:solidFill>
                  <a:latin typeface="Lovelo"/>
                  <a:ea typeface="Lovelo"/>
                  <a:cs typeface="Lovelo"/>
                  <a:sym typeface="Lovelo"/>
                </a:rPr>
                <a:t>Industries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377600" y="9739082"/>
            <a:ext cx="4562061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www.reallygreatsite.com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65439" y="4363935"/>
            <a:ext cx="7757122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  <a:spcBef>
                <a:spcPct val="0"/>
              </a:spcBef>
            </a:pPr>
            <a:r>
              <a:rPr lang="en-US" b="true" sz="5000" spc="-5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Cảm ơ</a:t>
            </a:r>
            <a:r>
              <a:rPr lang="en-US" b="true" sz="5000" spc="-50" strike="noStrike" u="non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n đã lắng nghe!</a:t>
            </a:r>
          </a:p>
          <a:p>
            <a:pPr algn="ctr" marL="0" indent="0" lvl="0">
              <a:lnSpc>
                <a:spcPts val="5500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6862398" y="3554794"/>
            <a:ext cx="4563204" cy="499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29"/>
              </a:lnSpc>
              <a:spcBef>
                <a:spcPct val="0"/>
              </a:spcBef>
            </a:pPr>
            <a:r>
              <a:rPr lang="en-US" b="true" sz="3299">
                <a:solidFill>
                  <a:srgbClr val="FF5757"/>
                </a:solidFill>
                <a:latin typeface="Arial Bold"/>
                <a:ea typeface="Arial Bold"/>
                <a:cs typeface="Arial Bold"/>
                <a:sym typeface="Arial Bold"/>
              </a:rPr>
              <a:t>Question &amp; Answer</a:t>
            </a: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5400000">
            <a:off x="11411802" y="2066203"/>
            <a:ext cx="2977181" cy="2977181"/>
            <a:chOff x="0" y="0"/>
            <a:chExt cx="3969575" cy="3969575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984788" cy="1984788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1984788"/>
              <a:ext cx="1984788" cy="1984788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984788" y="0"/>
              <a:ext cx="1984788" cy="1984788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0"/>
                  </a:lnSpc>
                </a:pPr>
              </a:p>
            </p:txBody>
          </p:sp>
        </p:grpSp>
      </p:grpSp>
      <p:grpSp>
        <p:nvGrpSpPr>
          <p:cNvPr name="Group 24" id="24"/>
          <p:cNvGrpSpPr/>
          <p:nvPr/>
        </p:nvGrpSpPr>
        <p:grpSpPr>
          <a:xfrm rot="5400000">
            <a:off x="5525495" y="1967693"/>
            <a:ext cx="1488591" cy="148859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E1E2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5400000">
            <a:off x="4036904" y="6940710"/>
            <a:ext cx="1488591" cy="1488591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BEBEC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5400000">
            <a:off x="4036904" y="3456284"/>
            <a:ext cx="1488591" cy="1488591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AEB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5400000">
            <a:off x="11089327" y="7417953"/>
            <a:ext cx="1488591" cy="1488591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E1E2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5400000">
            <a:off x="2548314" y="6940710"/>
            <a:ext cx="1488591" cy="1488591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E1E1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-5400000">
            <a:off x="152400" y="8581701"/>
            <a:ext cx="1857699" cy="1857699"/>
            <a:chOff x="0" y="0"/>
            <a:chExt cx="2476932" cy="2476932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49" id="49"/>
          <p:cNvGrpSpPr/>
          <p:nvPr/>
        </p:nvGrpSpPr>
        <p:grpSpPr>
          <a:xfrm rot="0">
            <a:off x="377600" y="321611"/>
            <a:ext cx="2102569" cy="275311"/>
            <a:chOff x="0" y="0"/>
            <a:chExt cx="2803426" cy="367081"/>
          </a:xfrm>
        </p:grpSpPr>
        <p:sp>
          <p:nvSpPr>
            <p:cNvPr name="TextBox 50" id="50"/>
            <p:cNvSpPr txBox="true"/>
            <p:nvPr/>
          </p:nvSpPr>
          <p:spPr>
            <a:xfrm rot="0">
              <a:off x="0" y="19050"/>
              <a:ext cx="1508522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Arowwai 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1521222" y="89374"/>
              <a:ext cx="1282204" cy="27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929292"/>
                  </a:solidFill>
                  <a:latin typeface="Lovelo"/>
                  <a:ea typeface="Lovelo"/>
                  <a:cs typeface="Lovelo"/>
                  <a:sym typeface="Lovelo"/>
                </a:rPr>
                <a:t>Industries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377600" y="9739082"/>
            <a:ext cx="4562061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www.reallygreatsite.com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DAG5HIL7vcQ</dc:identifier>
  <dcterms:modified xsi:type="dcterms:W3CDTF">2011-08-01T06:04:30Z</dcterms:modified>
  <cp:revision>1</cp:revision>
  <dc:title>Chương 10: Ảo hóa điện toán đám mây</dc:title>
</cp:coreProperties>
</file>